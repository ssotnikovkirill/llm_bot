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2192000" cy="6858000"/>
  <p:notesSz cx="12192000" cy="6858000"/>
  <p:embeddedFontLst>
    <p:embeddedFont>
      <p:font typeface="Arial Narrow" panose="020B0604020202020204" pitchFamily="34" charset="0"/>
      <p:regular r:id="rId3"/>
      <p:bold r:id="rId4"/>
      <p:italic r:id="rId5"/>
      <p:boldItalic r:id="rId6"/>
    </p:embeddedFont>
    <p:embeddedFont>
      <p:font typeface="GPN_DIN Bold" panose="020B0604020202020204" pitchFamily="34" charset="0"/>
      <p:regular r:id="rId7"/>
      <p:bold r:id="rId8"/>
    </p:embeddedFont>
    <p:embeddedFont>
      <p:font typeface="GPN_DIN Condensed" panose="020B0604020202020204" pitchFamily="34" charset="0"/>
      <p:regular r:id="rId9"/>
      <p:bold r:id="rId10"/>
      <p:italic r:id="rId11"/>
      <p:boldItalic r:id="rId12"/>
    </p:embeddedFont>
    <p:embeddedFont>
      <p:font typeface="GPN_DIN Condensed Bold" panose="020B0604020202020204" pitchFamily="34" charset="0"/>
      <p:regular r:id="rId13"/>
      <p:bold r:id="rId14"/>
    </p:embeddedFont>
    <p:embeddedFont>
      <p:font typeface="GPN_DIN Condensed Regular" panose="020B0604020202020204" pitchFamily="34" charset="0"/>
      <p:regular r:id="rId15"/>
      <p:bold r:id="rId16"/>
      <p:italic r:id="rId17"/>
      <p:boldItalic r:id="rId18"/>
    </p:embeddedFont>
    <p:embeddedFont>
      <p:font typeface="GPN_DIN Regular" panose="020B0604020202020204" pitchFamily="34" charset="0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3"/>
  </p:normalViewPr>
  <p:slideViewPr>
    <p:cSldViewPr snapToGrid="0" showGuides="1">
      <p:cViewPr>
        <p:scale>
          <a:sx n="117" d="100"/>
          <a:sy n="117" d="100"/>
        </p:scale>
        <p:origin x="144" y="144"/>
      </p:cViewPr>
      <p:guideLst>
        <p:guide orient="horz" pos="2160"/>
        <p:guide pos="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font" Target="fonts/font16.fntdata"/><Relationship Id="rId26" Type="http://schemas.openxmlformats.org/officeDocument/2006/relationships/tableStyles" Target="tableStyles.xml"/><Relationship Id="rId3" Type="http://schemas.openxmlformats.org/officeDocument/2006/relationships/font" Target="fonts/font1.fntdata"/><Relationship Id="rId21" Type="http://schemas.openxmlformats.org/officeDocument/2006/relationships/font" Target="fonts/font19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font" Target="fonts/font1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4.fntdata"/><Relationship Id="rId20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24" Type="http://schemas.openxmlformats.org/officeDocument/2006/relationships/viewProps" Target="viewProps.xml"/><Relationship Id="rId5" Type="http://schemas.openxmlformats.org/officeDocument/2006/relationships/font" Target="fonts/font3.fntdata"/><Relationship Id="rId15" Type="http://schemas.openxmlformats.org/officeDocument/2006/relationships/font" Target="fonts/font13.fntdata"/><Relationship Id="rId23" Type="http://schemas.openxmlformats.org/officeDocument/2006/relationships/presProps" Target="presProps.xml"/><Relationship Id="rId10" Type="http://schemas.openxmlformats.org/officeDocument/2006/relationships/font" Target="fonts/font8.fntdata"/><Relationship Id="rId19" Type="http://schemas.openxmlformats.org/officeDocument/2006/relationships/font" Target="fonts/font17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Relationship Id="rId22" Type="http://schemas.openxmlformats.org/officeDocument/2006/relationships/font" Target="fonts/font20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 кластерами (основной вариант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" name="BackGroundTitleSlide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3201" y="762"/>
            <a:ext cx="11396813" cy="641329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086561" y="3469021"/>
            <a:ext cx="6335712" cy="873254"/>
          </a:xfrm>
        </p:spPr>
        <p:txBody>
          <a:bodyPr t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Bold"/>
                <a:ea typeface="GPN_DIN Condensed Bold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4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56510" y="6213849"/>
            <a:ext cx="3459560" cy="1080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450"/>
              </a:spcBef>
              <a:spcAft>
                <a:spcPts val="0"/>
              </a:spcAft>
              <a:buNone/>
              <a:defRPr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86656" y="5760621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286656" y="5590538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П.П. ПЕТРОВ</a:t>
            </a:r>
            <a:endParaRPr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6656" y="5201002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56114" y="6380539"/>
            <a:ext cx="3459956" cy="108001"/>
          </a:xfrm>
        </p:spPr>
        <p:txBody>
          <a:bodyPr/>
          <a:lstStyle>
            <a:lvl1pPr marL="0" indent="0">
              <a:buNone/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01805" y="5174964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101805" y="6360442"/>
            <a:ext cx="2718197" cy="107998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01805" y="5329451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101805" y="5487988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pic>
        <p:nvPicPr>
          <p:cNvPr id="59" name="Рисунок 50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0199819" y="5722601"/>
            <a:ext cx="1893991" cy="10385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 кластерами и виз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BackGroundTitleSlide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3201" y="762"/>
            <a:ext cx="11396813" cy="641329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086561" y="3469021"/>
            <a:ext cx="6335712" cy="873254"/>
          </a:xfrm>
        </p:spPr>
        <p:txBody>
          <a:bodyPr t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Bold"/>
                <a:ea typeface="GPN_DIN Condensed Bold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4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56510" y="6213849"/>
            <a:ext cx="3459560" cy="1080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450"/>
              </a:spcBef>
              <a:spcAft>
                <a:spcPts val="0"/>
              </a:spcAft>
              <a:buNone/>
              <a:defRPr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86656" y="5760621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286656" y="5590538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П.П. ПЕТРОВ</a:t>
            </a:r>
            <a:endParaRPr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6656" y="5201002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56114" y="6380539"/>
            <a:ext cx="3459956" cy="108001"/>
          </a:xfrm>
        </p:spPr>
        <p:txBody>
          <a:bodyPr/>
          <a:lstStyle>
            <a:lvl1pPr marL="0" indent="0">
              <a:buNone/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cxnSp>
        <p:nvCxnSpPr>
          <p:cNvPr id="50" name="Straight Connector 8"/>
          <p:cNvCxnSpPr>
            <a:cxnSpLocks/>
          </p:cNvCxnSpPr>
          <p:nvPr userDrawn="1"/>
        </p:nvCxnSpPr>
        <p:spPr bwMode="auto">
          <a:xfrm>
            <a:off x="5101805" y="6324637"/>
            <a:ext cx="1785938" cy="0"/>
          </a:xfrm>
          <a:prstGeom prst="line">
            <a:avLst/>
          </a:prstGeom>
          <a:ln w="12700">
            <a:solidFill>
              <a:srgbClr val="7E7E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3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01805" y="5174964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УТВЕРЖДАЮ:</a:t>
            </a:r>
            <a:endParaRPr/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101805" y="6360442"/>
            <a:ext cx="2718197" cy="107998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И.И. ИВАНОВ</a:t>
            </a:r>
            <a:endParaRPr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01805" y="5329451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ДОЛЖНОСТЬ</a:t>
            </a:r>
            <a:endParaRPr/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101805" y="5487988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 ДВЕ СТРОКИ</a:t>
            </a:r>
            <a:endParaRPr/>
          </a:p>
        </p:txBody>
      </p:sp>
      <p:pic>
        <p:nvPicPr>
          <p:cNvPr id="59" name="Рисунок 5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199819" y="5722601"/>
            <a:ext cx="1893991" cy="10385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rcRect t="-1"/>
          <a:stretch/>
        </p:blipFill>
        <p:spPr bwMode="auto">
          <a:xfrm>
            <a:off x="-6368" y="761"/>
            <a:ext cx="9939600" cy="485726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086561" y="3469021"/>
            <a:ext cx="6335712" cy="873254"/>
          </a:xfrm>
        </p:spPr>
        <p:txBody>
          <a:bodyPr t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Bold"/>
                <a:ea typeface="GPN_DIN Condensed Bold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4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56510" y="6213849"/>
            <a:ext cx="3459560" cy="1080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450"/>
              </a:spcBef>
              <a:spcAft>
                <a:spcPts val="0"/>
              </a:spcAft>
              <a:buNone/>
              <a:defRPr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86656" y="5760621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286656" y="5590538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П.П. ПЕТРОВ</a:t>
            </a:r>
            <a:endParaRPr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6656" y="5201002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56114" y="6380539"/>
            <a:ext cx="3459956" cy="108001"/>
          </a:xfrm>
        </p:spPr>
        <p:txBody>
          <a:bodyPr/>
          <a:lstStyle>
            <a:lvl1pPr marL="0" indent="0">
              <a:buNone/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01805" y="5174964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101805" y="6360442"/>
            <a:ext cx="2718197" cy="107998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01805" y="5329451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101805" y="5487988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pic>
        <p:nvPicPr>
          <p:cNvPr id="59" name="Рисунок 5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199819" y="5722601"/>
            <a:ext cx="1893991" cy="10385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 фото и виз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rcRect t="-1"/>
          <a:stretch/>
        </p:blipFill>
        <p:spPr bwMode="auto">
          <a:xfrm>
            <a:off x="-6368" y="761"/>
            <a:ext cx="9939600" cy="485726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086561" y="3469021"/>
            <a:ext cx="6335712" cy="873254"/>
          </a:xfrm>
        </p:spPr>
        <p:txBody>
          <a:bodyPr t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Bold"/>
                <a:ea typeface="GPN_DIN Condensed Bold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4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56510" y="6213849"/>
            <a:ext cx="3459560" cy="1080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450"/>
              </a:spcBef>
              <a:spcAft>
                <a:spcPts val="0"/>
              </a:spcAft>
              <a:buNone/>
              <a:defRPr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86656" y="5760621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286656" y="5590538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П.П. ПЕТРОВ</a:t>
            </a:r>
            <a:endParaRPr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6656" y="5201002"/>
            <a:ext cx="3459568" cy="108000"/>
          </a:xfrm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9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56114" y="6380539"/>
            <a:ext cx="3459956" cy="108001"/>
          </a:xfrm>
        </p:spPr>
        <p:txBody>
          <a:bodyPr/>
          <a:lstStyle>
            <a:lvl1pPr marL="0" indent="0">
              <a:buNone/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cxnSp>
        <p:nvCxnSpPr>
          <p:cNvPr id="50" name="Straight Connector 8"/>
          <p:cNvCxnSpPr>
            <a:cxnSpLocks/>
          </p:cNvCxnSpPr>
          <p:nvPr userDrawn="1"/>
        </p:nvCxnSpPr>
        <p:spPr bwMode="auto">
          <a:xfrm>
            <a:off x="5101805" y="6324637"/>
            <a:ext cx="1785938" cy="0"/>
          </a:xfrm>
          <a:prstGeom prst="line">
            <a:avLst/>
          </a:prstGeom>
          <a:ln w="12700">
            <a:solidFill>
              <a:srgbClr val="7E7E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3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01805" y="5174964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УТВЕРЖДАЮ:</a:t>
            </a:r>
            <a:endParaRPr/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101805" y="6360442"/>
            <a:ext cx="2718197" cy="107998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И.И. ИВАНОВ</a:t>
            </a:r>
            <a:endParaRPr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01805" y="5329451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ДОЛЖНОСТЬ</a:t>
            </a:r>
            <a:endParaRPr/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101805" y="5487988"/>
            <a:ext cx="2718197" cy="1139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 ДВЕ СТРОКИ</a:t>
            </a:r>
            <a:endParaRPr/>
          </a:p>
        </p:txBody>
      </p:sp>
      <p:pic>
        <p:nvPicPr>
          <p:cNvPr id="59" name="Рисунок 5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199819" y="5722601"/>
            <a:ext cx="1893991" cy="10385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 Заголовок 1 стро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bg1">
                    <a:lumMod val="50000"/>
                  </a:schemeClr>
                </a:solidFill>
              </a:rPr>
              <a:t>ГАЗПРОМ НЕФТЬ   </a:t>
            </a:r>
            <a:fld id="{D58DDE06-DF15-0A4F-A85A-4EB38848D8EB}" type="slidenum">
              <a:rPr lang="ru-RU"/>
              <a:t>‹#›</a:t>
            </a:fld>
            <a:endParaRPr lang="ru-RU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 algn="l" defTabSz="914400">
              <a:lnSpc>
                <a:spcPct val="80000"/>
              </a:lnSpc>
              <a:spcBef>
                <a:spcPts val="0"/>
              </a:spcBef>
              <a:buNone/>
              <a:defRPr lang="ru-RU" sz="2400" b="0" i="0" cap="all">
                <a:solidFill>
                  <a:srgbClr val="7E7E7E"/>
                </a:solidFill>
                <a:latin typeface="GPN_DIN Condensed Bold"/>
                <a:ea typeface="GPN_DIN Condensed Bold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8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 Заголовок 2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bg1">
                    <a:lumMod val="50000"/>
                  </a:schemeClr>
                </a:solidFill>
              </a:rPr>
              <a:t>ГАЗПРОМ НЕФТЬ   </a:t>
            </a:r>
            <a:fld id="{D58DDE06-DF15-0A4F-A85A-4EB38848D8EB}" type="slidenum">
              <a:rPr lang="ru-RU"/>
              <a:t>‹#›</a:t>
            </a:fld>
            <a:endParaRPr lang="ru-RU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8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азделительный 1 стр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21804" y="2317373"/>
            <a:ext cx="1428751" cy="352425"/>
          </a:xfrm>
        </p:spPr>
        <p:txBody>
          <a:bodyPr lIns="36000" rIns="36000"/>
          <a:lstStyle>
            <a:lvl1pPr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1804" y="4087211"/>
            <a:ext cx="3469146" cy="215468"/>
          </a:xfrm>
        </p:spPr>
        <p:txBody>
          <a:bodyPr lIns="36000" tIns="36000" rIns="36000" bIns="36000"/>
          <a:lstStyle>
            <a:lvl1pPr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21803" y="3093668"/>
            <a:ext cx="10920819" cy="472112"/>
          </a:xfrm>
        </p:spPr>
        <p:txBody>
          <a:bodyPr lIns="36000" rIns="3600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В ОДНУ СТРОКУ</a:t>
            </a:r>
            <a:endParaRPr/>
          </a:p>
        </p:txBody>
      </p:sp>
      <p:cxnSp>
        <p:nvCxnSpPr>
          <p:cNvPr id="28" name="Straight Connector 14"/>
          <p:cNvCxnSpPr>
            <a:cxnSpLocks/>
          </p:cNvCxnSpPr>
          <p:nvPr userDrawn="1"/>
        </p:nvCxnSpPr>
        <p:spPr bwMode="auto">
          <a:xfrm>
            <a:off x="335967" y="2961043"/>
            <a:ext cx="675871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4"/>
          <p:cNvCxnSpPr>
            <a:cxnSpLocks/>
          </p:cNvCxnSpPr>
          <p:nvPr userDrawn="1"/>
        </p:nvCxnSpPr>
        <p:spPr bwMode="auto">
          <a:xfrm>
            <a:off x="335967" y="3698405"/>
            <a:ext cx="675871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азделительный 2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21804" y="2317373"/>
            <a:ext cx="1428751" cy="352425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rIns="36000"/>
          <a:lstStyle>
            <a:lvl1pPr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21804" y="3094127"/>
            <a:ext cx="4311156" cy="942269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rIns="3600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В ДВЕ СТРОКИ</a:t>
            </a:r>
            <a:endParaRPr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1804" y="4740194"/>
            <a:ext cx="3469146" cy="215468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tIns="36000" rIns="36000" bIns="36000"/>
          <a:lstStyle>
            <a:lvl1pPr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  <p:cxnSp>
        <p:nvCxnSpPr>
          <p:cNvPr id="13" name="Straight Connector 14"/>
          <p:cNvCxnSpPr>
            <a:cxnSpLocks/>
          </p:cNvCxnSpPr>
          <p:nvPr userDrawn="1"/>
        </p:nvCxnSpPr>
        <p:spPr bwMode="auto">
          <a:xfrm>
            <a:off x="321742" y="2850515"/>
            <a:ext cx="506903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5"/>
          <p:cNvCxnSpPr>
            <a:cxnSpLocks/>
          </p:cNvCxnSpPr>
          <p:nvPr userDrawn="1"/>
        </p:nvCxnSpPr>
        <p:spPr bwMode="auto">
          <a:xfrm>
            <a:off x="321742" y="4292600"/>
            <a:ext cx="506903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азделительный 2 строки и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5855367" y="-5400"/>
            <a:ext cx="6336633" cy="6868800"/>
          </a:xfrm>
          <a:custGeom>
            <a:avLst/>
            <a:gdLst>
              <a:gd name="connsiteX0" fmla="*/ 0 w 6336633"/>
              <a:gd name="connsiteY0" fmla="*/ 0 h 6857999"/>
              <a:gd name="connsiteX1" fmla="*/ 6336633 w 6336633"/>
              <a:gd name="connsiteY1" fmla="*/ 0 h 6857999"/>
              <a:gd name="connsiteX2" fmla="*/ 6336633 w 6336633"/>
              <a:gd name="connsiteY2" fmla="*/ 6857999 h 6857999"/>
              <a:gd name="connsiteX3" fmla="*/ 0 w 6336633"/>
              <a:gd name="connsiteY3" fmla="*/ 6857999 h 6857999"/>
              <a:gd name="connsiteX4" fmla="*/ 0 w 6336633"/>
              <a:gd name="connsiteY4" fmla="*/ 0 h 6857999"/>
              <a:gd name="connsiteX0" fmla="*/ 1466850 w 6336633"/>
              <a:gd name="connsiteY0" fmla="*/ 9525 h 6857999"/>
              <a:gd name="connsiteX1" fmla="*/ 6336633 w 6336633"/>
              <a:gd name="connsiteY1" fmla="*/ 0 h 6857999"/>
              <a:gd name="connsiteX2" fmla="*/ 6336633 w 6336633"/>
              <a:gd name="connsiteY2" fmla="*/ 6857999 h 6857999"/>
              <a:gd name="connsiteX3" fmla="*/ 0 w 6336633"/>
              <a:gd name="connsiteY3" fmla="*/ 6857999 h 6857999"/>
              <a:gd name="connsiteX4" fmla="*/ 1466850 w 6336633"/>
              <a:gd name="connsiteY4" fmla="*/ 952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6633" h="6857999" extrusionOk="0">
                <a:moveTo>
                  <a:pt x="1466850" y="9525"/>
                </a:moveTo>
                <a:lnTo>
                  <a:pt x="6336633" y="0"/>
                </a:lnTo>
                <a:lnTo>
                  <a:pt x="6336633" y="6857999"/>
                </a:lnTo>
                <a:lnTo>
                  <a:pt x="0" y="6857999"/>
                </a:lnTo>
                <a:lnTo>
                  <a:pt x="1466850" y="9525"/>
                </a:lnTo>
                <a:close/>
              </a:path>
            </a:pathLst>
          </a:cu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21804" y="2317373"/>
            <a:ext cx="1428751" cy="352425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rIns="36000"/>
          <a:lstStyle>
            <a:lvl1pPr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21804" y="3094127"/>
            <a:ext cx="5240796" cy="942269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rIns="3600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</a:t>
            </a:r>
            <a:endParaRPr/>
          </a:p>
          <a:p>
            <a:pPr lvl="0">
              <a:defRPr/>
            </a:pPr>
            <a:r>
              <a:rPr lang="ru-RU"/>
              <a:t>В ДВЕ СТРОКИ</a:t>
            </a:r>
            <a:endParaRPr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1804" y="4740194"/>
            <a:ext cx="3469146" cy="215468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tIns="36000" rIns="36000" bIns="36000"/>
          <a:lstStyle>
            <a:lvl1pPr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  <p:cxnSp>
        <p:nvCxnSpPr>
          <p:cNvPr id="14" name="Straight Connector 14"/>
          <p:cNvCxnSpPr>
            <a:cxnSpLocks/>
          </p:cNvCxnSpPr>
          <p:nvPr userDrawn="1"/>
        </p:nvCxnSpPr>
        <p:spPr bwMode="auto">
          <a:xfrm>
            <a:off x="321742" y="2850515"/>
            <a:ext cx="506903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>
            <a:cxnSpLocks/>
          </p:cNvCxnSpPr>
          <p:nvPr userDrawn="1"/>
        </p:nvCxnSpPr>
        <p:spPr bwMode="auto">
          <a:xfrm>
            <a:off x="321742" y="4292600"/>
            <a:ext cx="506903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а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1804" y="4087211"/>
            <a:ext cx="3469146" cy="215468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tIns="36000" rIns="36000" bIns="36000"/>
          <a:lstStyle>
            <a:lvl1pPr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21803" y="3093668"/>
            <a:ext cx="10920819" cy="472112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36000" rIns="3600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КОНТАКТЫ</a:t>
            </a:r>
            <a:endParaRPr/>
          </a:p>
        </p:txBody>
      </p:sp>
      <p:cxnSp>
        <p:nvCxnSpPr>
          <p:cNvPr id="28" name="Straight Connector 14"/>
          <p:cNvCxnSpPr>
            <a:cxnSpLocks/>
          </p:cNvCxnSpPr>
          <p:nvPr userDrawn="1"/>
        </p:nvCxnSpPr>
        <p:spPr bwMode="auto">
          <a:xfrm>
            <a:off x="335967" y="2961043"/>
            <a:ext cx="675871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4"/>
          <p:cNvCxnSpPr>
            <a:cxnSpLocks/>
          </p:cNvCxnSpPr>
          <p:nvPr userDrawn="1"/>
        </p:nvCxnSpPr>
        <p:spPr bwMode="auto">
          <a:xfrm>
            <a:off x="335967" y="3698405"/>
            <a:ext cx="675871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275714" y="4821334"/>
            <a:ext cx="5071470" cy="108000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u="none" strike="noStrike" cap="none" spc="0">
                <a:ln>
                  <a:noFill/>
                </a:ln>
                <a:latin typeface="GPN_DIN Regular"/>
                <a:ea typeface="GPN_DIN Regular"/>
              </a:rPr>
              <a:t>Иван Иванов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65666" y="5332353"/>
            <a:ext cx="5071470" cy="108000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>
                <a:latin typeface="GPN_DIN Regular"/>
                <a:ea typeface="GPN_DIN Regular"/>
              </a:rPr>
              <a:t>Управление маркетинговых коммуникаций</a:t>
            </a:r>
            <a:endParaRPr lang="en-US" sz="1200" u="none" strike="noStrike" cap="none" spc="0">
              <a:ln>
                <a:noFill/>
              </a:ln>
              <a:latin typeface="GPN_DIN Regular"/>
              <a:ea typeface="GPN_DIN Regular"/>
            </a:endParaRP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77394" y="5594871"/>
            <a:ext cx="5071470" cy="28441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200">
                <a:latin typeface="GPN_DIN Regular"/>
                <a:ea typeface="GPN_DIN Regular"/>
              </a:rPr>
              <a:t>XX</a:t>
            </a:r>
            <a:r>
              <a:rPr lang="ru-RU" sz="1200" u="none" strike="noStrike" cap="none" spc="0">
                <a:ln>
                  <a:noFill/>
                </a:ln>
                <a:latin typeface="GPN_DIN Regular"/>
                <a:ea typeface="GPN_DIN Regular"/>
              </a:rPr>
              <a:t>.</a:t>
            </a:r>
            <a:r>
              <a:rPr lang="en-US" sz="1200" u="none" strike="noStrike" cap="none" spc="0">
                <a:ln>
                  <a:noFill/>
                </a:ln>
                <a:latin typeface="GPN_DIN Regular"/>
                <a:ea typeface="GPN_DIN Regular"/>
              </a:rPr>
              <a:t>XX</a:t>
            </a:r>
            <a:r>
              <a:rPr lang="ru-RU" sz="1200" u="none" strike="noStrike" cap="none" spc="0">
                <a:ln>
                  <a:noFill/>
                </a:ln>
                <a:latin typeface="GPN_DIN Regular"/>
                <a:ea typeface="GPN_DIN Regular"/>
              </a:rPr>
              <a:t>.20</a:t>
            </a:r>
            <a:r>
              <a:rPr lang="en-US" sz="1200" u="none" strike="noStrike" cap="none" spc="0">
                <a:ln>
                  <a:noFill/>
                </a:ln>
                <a:latin typeface="GPN_DIN Regular"/>
                <a:ea typeface="GPN_DIN Regular"/>
              </a:rPr>
              <a:t>XX</a:t>
            </a:r>
            <a:endParaRPr lang="ru-RU" sz="1200" u="none" strike="noStrike" cap="none" spc="0">
              <a:ln>
                <a:noFill/>
              </a:ln>
              <a:latin typeface="GPN_DIN Regular"/>
              <a:ea typeface="GPN_DIN Regular"/>
            </a:endParaRP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276801" y="5062724"/>
            <a:ext cx="4610427" cy="108000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64293"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200">
                <a:latin typeface="GPN_DIN Regular"/>
                <a:ea typeface="GPN_DIN Regular"/>
              </a:rPr>
              <a:t>IVANOV.II@gazprom-neft.ru</a:t>
            </a:r>
            <a:endParaRPr/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endParaRPr lang="en-US" sz="1200">
              <a:latin typeface="GPN_DIN Regular"/>
              <a:ea typeface="GPN_DIN Regular"/>
            </a:endParaRPr>
          </a:p>
        </p:txBody>
      </p:sp>
      <p:sp>
        <p:nvSpPr>
          <p:cNvPr id="11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пасибо за внима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3"/>
          <p:cNvSpPr txBox="1"/>
          <p:nvPr userDrawn="1"/>
        </p:nvSpPr>
        <p:spPr bwMode="auto">
          <a:xfrm>
            <a:off x="3400628" y="3192944"/>
            <a:ext cx="5390744" cy="472112"/>
          </a:xfrm>
        </p:spPr>
        <p:txBody>
          <a:bodyPr/>
          <a:lstStyle>
            <a:lvl1pPr marL="0" indent="0" algn="l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/>
              <a:buNone/>
              <a:defRPr sz="1800" b="1" cap="all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marR="0" indent="-266700" algn="l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9263" indent="-169862" algn="l" defTabSz="914400">
              <a:lnSpc>
                <a:spcPct val="90000"/>
              </a:lnSpc>
              <a:spcBef>
                <a:spcPts val="300"/>
              </a:spcBef>
              <a:buClr>
                <a:schemeClr val="accent3"/>
              </a:buClr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469C"/>
              </a:buClr>
              <a:buSzPct val="90000"/>
              <a:buFont typeface="Wingdings"/>
              <a:buNone/>
              <a:defRPr/>
            </a:pPr>
            <a:r>
              <a: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rPr>
              <a:t>СПАСИБО ЗА ВНИМАНИЕ</a:t>
            </a:r>
            <a:endParaRPr/>
          </a:p>
        </p:txBody>
      </p:sp>
      <p:sp>
        <p:nvSpPr>
          <p:cNvPr id="4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модуля Залив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Freeform: Shape 28"/>
          <p:cNvSpPr/>
          <p:nvPr userDrawn="1"/>
        </p:nvSpPr>
        <p:spPr bwMode="auto">
          <a:xfrm>
            <a:off x="6166246" y="1776391"/>
            <a:ext cx="569079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6166246" y="1128391"/>
            <a:ext cx="569079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2796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2796" y="2137227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78222" y="1128713"/>
            <a:ext cx="5675404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 algn="l" defTabSz="914400">
              <a:lnSpc>
                <a:spcPct val="80000"/>
              </a:lnSpc>
              <a:spcBef>
                <a:spcPts val="0"/>
              </a:spcBef>
              <a:buNone/>
              <a:defRPr lang="ru-RU" sz="2400" b="0" i="0" cap="all">
                <a:solidFill>
                  <a:srgbClr val="7E7E7E"/>
                </a:solidFill>
                <a:latin typeface="GPN_DIN Condensed Bold"/>
                <a:ea typeface="GPN_DIN Condensed Bold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" name="Freeform: Shape 28"/>
          <p:cNvSpPr/>
          <p:nvPr userDrawn="1"/>
        </p:nvSpPr>
        <p:spPr bwMode="auto">
          <a:xfrm>
            <a:off x="334963" y="1780914"/>
            <a:ext cx="569079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Freeform: Shape 96"/>
          <p:cNvSpPr/>
          <p:nvPr userDrawn="1"/>
        </p:nvSpPr>
        <p:spPr bwMode="auto">
          <a:xfrm>
            <a:off x="334963" y="1132915"/>
            <a:ext cx="569079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6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1513" y="1850193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1513" y="2141751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46939" y="1133237"/>
            <a:ext cx="5675404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8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модуля Залив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6"/>
            <a:ext cx="3576606" cy="4059025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391"/>
            <a:ext cx="3741557" cy="648022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6" name="Freeform: Shape 28"/>
          <p:cNvSpPr/>
          <p:nvPr userDrawn="1"/>
        </p:nvSpPr>
        <p:spPr bwMode="auto">
          <a:xfrm>
            <a:off x="4222687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4222687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279236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279236" y="2137227"/>
            <a:ext cx="3576606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7" name="Текст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222451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29" name="Freeform: Shape 28"/>
          <p:cNvSpPr/>
          <p:nvPr userDrawn="1"/>
        </p:nvSpPr>
        <p:spPr bwMode="auto">
          <a:xfrm>
            <a:off x="8113478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Freeform: Shape 96"/>
          <p:cNvSpPr/>
          <p:nvPr userDrawn="1"/>
        </p:nvSpPr>
        <p:spPr bwMode="auto">
          <a:xfrm>
            <a:off x="8113478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1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170027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2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70027" y="2137227"/>
            <a:ext cx="3576606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marL="0" marR="0" lvl="0" indent="0" algn="l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/>
              <a:buNone/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13242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24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модуля Залив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180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9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23" name="Freeform: Shape 28"/>
          <p:cNvSpPr/>
          <p:nvPr userDrawn="1"/>
        </p:nvSpPr>
        <p:spPr bwMode="auto">
          <a:xfrm>
            <a:off x="3255662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3255662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312211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312211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55427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35" name="Freeform: Shape 28"/>
          <p:cNvSpPr/>
          <p:nvPr userDrawn="1"/>
        </p:nvSpPr>
        <p:spPr bwMode="auto">
          <a:xfrm>
            <a:off x="6175294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Freeform: Shape 96"/>
          <p:cNvSpPr/>
          <p:nvPr userDrawn="1"/>
        </p:nvSpPr>
        <p:spPr bwMode="auto">
          <a:xfrm>
            <a:off x="6175294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231843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8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231843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9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75059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40" name="Freeform: Shape 28"/>
          <p:cNvSpPr/>
          <p:nvPr userDrawn="1"/>
        </p:nvSpPr>
        <p:spPr bwMode="auto">
          <a:xfrm>
            <a:off x="9083675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Freeform: Shape 96"/>
          <p:cNvSpPr/>
          <p:nvPr userDrawn="1"/>
        </p:nvSpPr>
        <p:spPr bwMode="auto">
          <a:xfrm>
            <a:off x="9083675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2" name="Text Placeholder 5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9140224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3" name="Text Placeholder 78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9140224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4" name="Текст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9083440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2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4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широких модуля Залив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8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3" name="Freeform: Shape 28"/>
          <p:cNvSpPr/>
          <p:nvPr userDrawn="1"/>
        </p:nvSpPr>
        <p:spPr bwMode="auto">
          <a:xfrm>
            <a:off x="6170865" y="1776391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6170865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7414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7414" y="2137228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82839" y="1128713"/>
            <a:ext cx="567078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6" name="Freeform: Shape 28"/>
          <p:cNvSpPr/>
          <p:nvPr userDrawn="1"/>
        </p:nvSpPr>
        <p:spPr bwMode="auto">
          <a:xfrm>
            <a:off x="334963" y="4155010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334963" y="3507010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1512" y="4224288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1512" y="4515847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7" name="Freeform: Shape 28"/>
          <p:cNvSpPr/>
          <p:nvPr userDrawn="1"/>
        </p:nvSpPr>
        <p:spPr bwMode="auto">
          <a:xfrm>
            <a:off x="6167454" y="4155010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96"/>
          <p:cNvSpPr/>
          <p:nvPr userDrawn="1"/>
        </p:nvSpPr>
        <p:spPr bwMode="auto">
          <a:xfrm>
            <a:off x="6167454" y="3507010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0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224003" y="4224288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1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224003" y="4515847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2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34727" y="3507332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79428" y="3507332"/>
            <a:ext cx="567078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5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40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 модулей Залив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374150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8"/>
            <a:ext cx="3576606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6" name="Freeform: Shape 28"/>
          <p:cNvSpPr/>
          <p:nvPr userDrawn="1"/>
        </p:nvSpPr>
        <p:spPr bwMode="auto">
          <a:xfrm>
            <a:off x="334963" y="4155010"/>
            <a:ext cx="374150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334963" y="3507010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1512" y="4224288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1512" y="4515847"/>
            <a:ext cx="3576606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2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34727" y="3507332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5" name="Freeform: Shape 28"/>
          <p:cNvSpPr/>
          <p:nvPr userDrawn="1"/>
        </p:nvSpPr>
        <p:spPr bwMode="auto">
          <a:xfrm>
            <a:off x="4231644" y="1776391"/>
            <a:ext cx="374150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Freeform: Shape 96"/>
          <p:cNvSpPr/>
          <p:nvPr userDrawn="1"/>
        </p:nvSpPr>
        <p:spPr bwMode="auto">
          <a:xfrm>
            <a:off x="4231644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288193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8" name="Text Placeholder 78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288193" y="2137228"/>
            <a:ext cx="3576606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9" name="Текст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231408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40" name="Freeform: Shape 28"/>
          <p:cNvSpPr/>
          <p:nvPr userDrawn="1"/>
        </p:nvSpPr>
        <p:spPr bwMode="auto">
          <a:xfrm>
            <a:off x="4228233" y="4155010"/>
            <a:ext cx="374150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Freeform: Shape 96"/>
          <p:cNvSpPr/>
          <p:nvPr userDrawn="1"/>
        </p:nvSpPr>
        <p:spPr bwMode="auto">
          <a:xfrm>
            <a:off x="4228233" y="3507010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2" name="Text Placeholder 58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284782" y="4224288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3" name="Text Placeholder 78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4284782" y="4515847"/>
            <a:ext cx="3576606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4" name="Текст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227997" y="3507332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46" name="Freeform: Shape 28"/>
          <p:cNvSpPr/>
          <p:nvPr userDrawn="1"/>
        </p:nvSpPr>
        <p:spPr bwMode="auto">
          <a:xfrm>
            <a:off x="8113762" y="1776391"/>
            <a:ext cx="374150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7" name="Freeform: Shape 96"/>
          <p:cNvSpPr/>
          <p:nvPr userDrawn="1"/>
        </p:nvSpPr>
        <p:spPr bwMode="auto">
          <a:xfrm>
            <a:off x="8113762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8" name="Text Placeholder 58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8170311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9" name="Text Placeholder 78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8170311" y="2137228"/>
            <a:ext cx="3576606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0" name="Текст 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8113525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51" name="Freeform: Shape 28"/>
          <p:cNvSpPr/>
          <p:nvPr userDrawn="1"/>
        </p:nvSpPr>
        <p:spPr bwMode="auto">
          <a:xfrm>
            <a:off x="8110351" y="4155010"/>
            <a:ext cx="374150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2" name="Freeform: Shape 96"/>
          <p:cNvSpPr/>
          <p:nvPr userDrawn="1"/>
        </p:nvSpPr>
        <p:spPr bwMode="auto">
          <a:xfrm>
            <a:off x="8110351" y="3507010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3" name="Text Placeholder 58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8166899" y="4224288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4" name="Text Placeholder 78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8166899" y="4515847"/>
            <a:ext cx="3576606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5" name="Текст 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8110115" y="3507332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45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56" name="Текст 6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62" name="Текст 12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 модулей Залив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9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16" name="Freeform: Shape 28"/>
          <p:cNvSpPr/>
          <p:nvPr userDrawn="1"/>
        </p:nvSpPr>
        <p:spPr bwMode="auto">
          <a:xfrm>
            <a:off x="334963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334963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1512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1512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2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34728" y="3507332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35" name="Freeform: Shape 28"/>
          <p:cNvSpPr/>
          <p:nvPr userDrawn="1"/>
        </p:nvSpPr>
        <p:spPr bwMode="auto">
          <a:xfrm>
            <a:off x="3251200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Freeform: Shape 96"/>
          <p:cNvSpPr/>
          <p:nvPr userDrawn="1"/>
        </p:nvSpPr>
        <p:spPr bwMode="auto">
          <a:xfrm>
            <a:off x="3251200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3307749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8" name="Text Placeholder 78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307749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9" name="Текст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3250964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40" name="Freeform: Shape 28"/>
          <p:cNvSpPr/>
          <p:nvPr userDrawn="1"/>
        </p:nvSpPr>
        <p:spPr bwMode="auto">
          <a:xfrm>
            <a:off x="3247789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Freeform: Shape 96"/>
          <p:cNvSpPr/>
          <p:nvPr userDrawn="1"/>
        </p:nvSpPr>
        <p:spPr bwMode="auto">
          <a:xfrm>
            <a:off x="3247789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2" name="Text Placeholder 58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04338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3" name="Text Placeholder 78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04338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4" name="Текст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3247554" y="3507332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45" name="Freeform: Shape 28"/>
          <p:cNvSpPr/>
          <p:nvPr userDrawn="1"/>
        </p:nvSpPr>
        <p:spPr bwMode="auto">
          <a:xfrm>
            <a:off x="6174497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6" name="Freeform: Shape 96"/>
          <p:cNvSpPr/>
          <p:nvPr userDrawn="1"/>
        </p:nvSpPr>
        <p:spPr bwMode="auto">
          <a:xfrm>
            <a:off x="6174497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7" name="Text Placeholder 58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31046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8" name="Text Placeholder 78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231046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9" name="Текст 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174262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50" name="Freeform: Shape 28"/>
          <p:cNvSpPr/>
          <p:nvPr userDrawn="1"/>
        </p:nvSpPr>
        <p:spPr bwMode="auto">
          <a:xfrm>
            <a:off x="6171086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1" name="Freeform: Shape 96"/>
          <p:cNvSpPr/>
          <p:nvPr userDrawn="1"/>
        </p:nvSpPr>
        <p:spPr bwMode="auto">
          <a:xfrm>
            <a:off x="6171086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2" name="Text Placeholder 58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227635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3" name="Text Placeholder 78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227635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4" name="Текст 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170851" y="3507332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55" name="Freeform: Shape 28"/>
          <p:cNvSpPr/>
          <p:nvPr userDrawn="1"/>
        </p:nvSpPr>
        <p:spPr bwMode="auto">
          <a:xfrm>
            <a:off x="9083869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6" name="Freeform: Shape 96"/>
          <p:cNvSpPr/>
          <p:nvPr userDrawn="1"/>
        </p:nvSpPr>
        <p:spPr bwMode="auto">
          <a:xfrm>
            <a:off x="9083869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7" name="Text Placeholder 58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9140418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8" name="Text Placeholder 78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9140418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60" name="Текст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9083634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61" name="Freeform: Shape 28"/>
          <p:cNvSpPr/>
          <p:nvPr userDrawn="1"/>
        </p:nvSpPr>
        <p:spPr bwMode="auto">
          <a:xfrm>
            <a:off x="9080458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2" name="Freeform: Shape 96"/>
          <p:cNvSpPr/>
          <p:nvPr userDrawn="1"/>
        </p:nvSpPr>
        <p:spPr bwMode="auto">
          <a:xfrm>
            <a:off x="9080458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63" name="Text Placeholder 58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9137007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64" name="Text Placeholder 78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9137007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65" name="Текст 4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9080223" y="3507332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66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67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6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70" name="Текст 1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модуля и вывод Залив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5684752" cy="1268467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>
              <a:solidFill>
                <a:schemeClr val="bg1"/>
              </a:solidFill>
              <a:latin typeface="GPN_DIN Condensed Bold"/>
              <a:ea typeface="GPN_DIN Condensed Bold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5434214" cy="78508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3" name="Freeform: Shape 28"/>
          <p:cNvSpPr/>
          <p:nvPr userDrawn="1"/>
        </p:nvSpPr>
        <p:spPr bwMode="auto">
          <a:xfrm>
            <a:off x="6170865" y="1776391"/>
            <a:ext cx="5684752" cy="1268467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6170865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>
              <a:solidFill>
                <a:schemeClr val="bg1"/>
              </a:solidFill>
              <a:latin typeface="GPN_DIN Condensed Bold"/>
              <a:ea typeface="GPN_DIN Condensed Bold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7414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7414" y="2137227"/>
            <a:ext cx="5434214" cy="78508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82839" y="1128713"/>
            <a:ext cx="567078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45" name="Freeform: Shape 28"/>
          <p:cNvSpPr/>
          <p:nvPr userDrawn="1"/>
        </p:nvSpPr>
        <p:spPr bwMode="auto">
          <a:xfrm>
            <a:off x="338374" y="3840863"/>
            <a:ext cx="5684752" cy="1268467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6" name="Freeform: Shape 96"/>
          <p:cNvSpPr/>
          <p:nvPr userDrawn="1"/>
        </p:nvSpPr>
        <p:spPr bwMode="auto">
          <a:xfrm>
            <a:off x="338374" y="3192863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>
              <a:solidFill>
                <a:schemeClr val="bg1"/>
              </a:solidFill>
              <a:latin typeface="GPN_DIN Condensed Bold"/>
              <a:ea typeface="GPN_DIN Condensed Bold"/>
            </a:endParaRPr>
          </a:p>
        </p:txBody>
      </p:sp>
      <p:sp>
        <p:nvSpPr>
          <p:cNvPr id="47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4923" y="3910141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8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4923" y="4201699"/>
            <a:ext cx="5434214" cy="78508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9" name="Freeform: Shape 28"/>
          <p:cNvSpPr/>
          <p:nvPr userDrawn="1"/>
        </p:nvSpPr>
        <p:spPr bwMode="auto">
          <a:xfrm>
            <a:off x="6170865" y="3840863"/>
            <a:ext cx="5684752" cy="1268467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0" name="Freeform: Shape 96"/>
          <p:cNvSpPr/>
          <p:nvPr userDrawn="1"/>
        </p:nvSpPr>
        <p:spPr bwMode="auto">
          <a:xfrm>
            <a:off x="6170865" y="3192863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>
              <a:solidFill>
                <a:schemeClr val="bg1"/>
              </a:solidFill>
              <a:latin typeface="GPN_DIN Condensed Bold"/>
              <a:ea typeface="GPN_DIN Condensed Bold"/>
            </a:endParaRPr>
          </a:p>
        </p:txBody>
      </p:sp>
      <p:sp>
        <p:nvSpPr>
          <p:cNvPr id="51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227414" y="3910141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2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227414" y="4201699"/>
            <a:ext cx="5434214" cy="78508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3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38138" y="3193185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54" name="Текст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82839" y="3193185"/>
            <a:ext cx="567078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55" name="Freeform: Shape 96"/>
          <p:cNvSpPr/>
          <p:nvPr userDrawn="1"/>
        </p:nvSpPr>
        <p:spPr bwMode="auto">
          <a:xfrm>
            <a:off x="339810" y="5248169"/>
            <a:ext cx="11517227" cy="952756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>
              <a:solidFill>
                <a:schemeClr val="bg1"/>
              </a:solidFill>
              <a:latin typeface="GPN_DIN Condensed Bold"/>
              <a:ea typeface="GPN_DIN Condensed Bold"/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34963" y="5248019"/>
            <a:ext cx="11522075" cy="952756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lang="en-US" sz="1400">
                <a:solidFill>
                  <a:schemeClr val="bg1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bg1">
                    <a:lumMod val="50000"/>
                  </a:schemeClr>
                </a:solidFill>
              </a:rPr>
              <a:t>ГАЗПРОМ НЕФТЬ   </a:t>
            </a:r>
            <a:fld id="{D58DDE06-DF15-0A4F-A85A-4EB38848D8EB}" type="slidenum">
              <a:rPr lang="ru-RU"/>
              <a:t>‹#›</a:t>
            </a:fld>
            <a:endParaRPr lang="ru-RU"/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2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модуля Обвод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Freeform: Shape 28"/>
          <p:cNvSpPr/>
          <p:nvPr userDrawn="1"/>
        </p:nvSpPr>
        <p:spPr bwMode="auto">
          <a:xfrm>
            <a:off x="6166246" y="1776391"/>
            <a:ext cx="569079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6166246" y="1128391"/>
            <a:ext cx="569079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2796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2796" y="2137227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66246" y="1128713"/>
            <a:ext cx="5690791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" name="Freeform: Shape 28"/>
          <p:cNvSpPr/>
          <p:nvPr userDrawn="1"/>
        </p:nvSpPr>
        <p:spPr bwMode="auto">
          <a:xfrm>
            <a:off x="334963" y="1780914"/>
            <a:ext cx="569079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Freeform: Shape 96"/>
          <p:cNvSpPr/>
          <p:nvPr userDrawn="1"/>
        </p:nvSpPr>
        <p:spPr bwMode="auto">
          <a:xfrm>
            <a:off x="334963" y="1132915"/>
            <a:ext cx="569079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6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1513" y="1850193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1513" y="2141751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46939" y="1133237"/>
            <a:ext cx="5675404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8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модуля Обвод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6"/>
            <a:ext cx="3576606" cy="4059025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391"/>
            <a:ext cx="3741557" cy="648022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6" name="Freeform: Shape 28"/>
          <p:cNvSpPr/>
          <p:nvPr userDrawn="1"/>
        </p:nvSpPr>
        <p:spPr bwMode="auto">
          <a:xfrm>
            <a:off x="4222687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4222687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279236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279236" y="2137227"/>
            <a:ext cx="3576606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7" name="Текст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222451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29" name="Freeform: Shape 28"/>
          <p:cNvSpPr/>
          <p:nvPr userDrawn="1"/>
        </p:nvSpPr>
        <p:spPr bwMode="auto">
          <a:xfrm>
            <a:off x="8113478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Freeform: Shape 96"/>
          <p:cNvSpPr/>
          <p:nvPr userDrawn="1"/>
        </p:nvSpPr>
        <p:spPr bwMode="auto">
          <a:xfrm>
            <a:off x="8113478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1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170027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2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70027" y="2137227"/>
            <a:ext cx="3576606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marL="0" marR="0" lvl="0" indent="0" algn="l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/>
              <a:buNone/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13242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24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6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модуля Обвод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9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23" name="Freeform: Shape 28"/>
          <p:cNvSpPr/>
          <p:nvPr userDrawn="1"/>
        </p:nvSpPr>
        <p:spPr bwMode="auto">
          <a:xfrm>
            <a:off x="3255662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3255662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312211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312211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55427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35" name="Freeform: Shape 28"/>
          <p:cNvSpPr/>
          <p:nvPr userDrawn="1"/>
        </p:nvSpPr>
        <p:spPr bwMode="auto">
          <a:xfrm>
            <a:off x="6175294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Freeform: Shape 96"/>
          <p:cNvSpPr/>
          <p:nvPr userDrawn="1"/>
        </p:nvSpPr>
        <p:spPr bwMode="auto">
          <a:xfrm>
            <a:off x="6175294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231843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8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231843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9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75059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40" name="Freeform: Shape 28"/>
          <p:cNvSpPr/>
          <p:nvPr userDrawn="1"/>
        </p:nvSpPr>
        <p:spPr bwMode="auto">
          <a:xfrm>
            <a:off x="9083675" y="1776391"/>
            <a:ext cx="27699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Freeform: Shape 96"/>
          <p:cNvSpPr/>
          <p:nvPr userDrawn="1"/>
        </p:nvSpPr>
        <p:spPr bwMode="auto">
          <a:xfrm>
            <a:off x="9083675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2" name="Text Placeholder 5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9140224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3" name="Text Placeholder 78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9140224" y="2137227"/>
            <a:ext cx="2647874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4" name="Текст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9083440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2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4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широких модуля Обвод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8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3" name="Freeform: Shape 28"/>
          <p:cNvSpPr/>
          <p:nvPr userDrawn="1"/>
        </p:nvSpPr>
        <p:spPr bwMode="auto">
          <a:xfrm>
            <a:off x="6170865" y="1776391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6170865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7414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7414" y="2137228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82839" y="1128713"/>
            <a:ext cx="567078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6" name="Freeform: Shape 28"/>
          <p:cNvSpPr/>
          <p:nvPr userDrawn="1"/>
        </p:nvSpPr>
        <p:spPr bwMode="auto">
          <a:xfrm>
            <a:off x="334963" y="4155010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334963" y="3507010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1512" y="4224288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1512" y="4515847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7" name="Freeform: Shape 28"/>
          <p:cNvSpPr/>
          <p:nvPr userDrawn="1"/>
        </p:nvSpPr>
        <p:spPr bwMode="auto">
          <a:xfrm>
            <a:off x="6167454" y="4155010"/>
            <a:ext cx="5684752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96"/>
          <p:cNvSpPr/>
          <p:nvPr userDrawn="1"/>
        </p:nvSpPr>
        <p:spPr bwMode="auto">
          <a:xfrm>
            <a:off x="6167454" y="3507010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0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224003" y="4224288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1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224003" y="4515847"/>
            <a:ext cx="543421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2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34727" y="3507332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79428" y="3507332"/>
            <a:ext cx="567078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5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40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 модулей Обвод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9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16" name="Freeform: Shape 28"/>
          <p:cNvSpPr/>
          <p:nvPr userDrawn="1"/>
        </p:nvSpPr>
        <p:spPr bwMode="auto">
          <a:xfrm>
            <a:off x="334963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334963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91512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91512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2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34728" y="3507332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35" name="Freeform: Shape 28"/>
          <p:cNvSpPr/>
          <p:nvPr userDrawn="1"/>
        </p:nvSpPr>
        <p:spPr bwMode="auto">
          <a:xfrm>
            <a:off x="3251200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Freeform: Shape 96"/>
          <p:cNvSpPr/>
          <p:nvPr userDrawn="1"/>
        </p:nvSpPr>
        <p:spPr bwMode="auto">
          <a:xfrm>
            <a:off x="3251200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3307749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8" name="Text Placeholder 78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307749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9" name="Текст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3250964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40" name="Freeform: Shape 28"/>
          <p:cNvSpPr/>
          <p:nvPr userDrawn="1"/>
        </p:nvSpPr>
        <p:spPr bwMode="auto">
          <a:xfrm>
            <a:off x="3247789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Freeform: Shape 96"/>
          <p:cNvSpPr/>
          <p:nvPr userDrawn="1"/>
        </p:nvSpPr>
        <p:spPr bwMode="auto">
          <a:xfrm>
            <a:off x="3247789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2" name="Text Placeholder 58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04338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3" name="Text Placeholder 78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04338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4" name="Текст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3247554" y="3507332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45" name="Freeform: Shape 28"/>
          <p:cNvSpPr/>
          <p:nvPr userDrawn="1"/>
        </p:nvSpPr>
        <p:spPr bwMode="auto">
          <a:xfrm>
            <a:off x="6174497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6" name="Freeform: Shape 96"/>
          <p:cNvSpPr/>
          <p:nvPr userDrawn="1"/>
        </p:nvSpPr>
        <p:spPr bwMode="auto">
          <a:xfrm>
            <a:off x="6174497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47" name="Text Placeholder 58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31046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8" name="Text Placeholder 78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231046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49" name="Текст 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174262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50" name="Freeform: Shape 28"/>
          <p:cNvSpPr/>
          <p:nvPr userDrawn="1"/>
        </p:nvSpPr>
        <p:spPr bwMode="auto">
          <a:xfrm>
            <a:off x="6171086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1" name="Freeform: Shape 96"/>
          <p:cNvSpPr/>
          <p:nvPr userDrawn="1"/>
        </p:nvSpPr>
        <p:spPr bwMode="auto">
          <a:xfrm>
            <a:off x="6171086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2" name="Text Placeholder 58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227635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3" name="Text Placeholder 78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227635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4" name="Текст 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170851" y="3507332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55" name="Freeform: Shape 28"/>
          <p:cNvSpPr/>
          <p:nvPr userDrawn="1"/>
        </p:nvSpPr>
        <p:spPr bwMode="auto">
          <a:xfrm>
            <a:off x="9083869" y="1776391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6" name="Freeform: Shape 96"/>
          <p:cNvSpPr/>
          <p:nvPr userDrawn="1"/>
        </p:nvSpPr>
        <p:spPr bwMode="auto">
          <a:xfrm>
            <a:off x="9083869" y="1128391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solidFill>
              <a:srgbClr val="0045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7" name="Text Placeholder 58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9140418" y="1845669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8" name="Text Placeholder 78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9140418" y="2137228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60" name="Текст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9083634" y="1128713"/>
            <a:ext cx="2769992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61" name="Freeform: Shape 28"/>
          <p:cNvSpPr/>
          <p:nvPr userDrawn="1"/>
        </p:nvSpPr>
        <p:spPr bwMode="auto">
          <a:xfrm>
            <a:off x="9080458" y="4155010"/>
            <a:ext cx="27699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noFill/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2" name="Freeform: Shape 96"/>
          <p:cNvSpPr/>
          <p:nvPr userDrawn="1"/>
        </p:nvSpPr>
        <p:spPr bwMode="auto">
          <a:xfrm>
            <a:off x="9080458" y="3507010"/>
            <a:ext cx="27699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63" name="Text Placeholder 58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9137007" y="4224288"/>
            <a:ext cx="264787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64" name="Text Placeholder 78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9137007" y="4515847"/>
            <a:ext cx="2647874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65" name="Текст 4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9080223" y="3507332"/>
            <a:ext cx="2769992" cy="647700"/>
          </a:xfrm>
          <a:prstGeom prst="rect">
            <a:avLst/>
          </a:prstGeom>
          <a:ln>
            <a:solidFill>
              <a:srgbClr val="004596"/>
            </a:solidFill>
          </a:ln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b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</a:b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в 2 строки</a:t>
            </a:r>
            <a:endParaRPr/>
          </a:p>
        </p:txBody>
      </p:sp>
      <p:sp>
        <p:nvSpPr>
          <p:cNvPr id="66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67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6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70" name="Текст 1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дуль и контен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5684752" cy="395765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2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quarter" idx="26"/>
          </p:nvPr>
        </p:nvSpPr>
        <p:spPr bwMode="auto">
          <a:xfrm>
            <a:off x="6167536" y="1128391"/>
            <a:ext cx="5629026" cy="4590296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9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дуль и 2 вертикальных контен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Freeform: Shape 28"/>
          <p:cNvSpPr/>
          <p:nvPr userDrawn="1"/>
        </p:nvSpPr>
        <p:spPr bwMode="auto">
          <a:xfrm>
            <a:off x="338374" y="1776391"/>
            <a:ext cx="3741501" cy="395765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Freeform: Shape 96"/>
          <p:cNvSpPr/>
          <p:nvPr userDrawn="1"/>
        </p:nvSpPr>
        <p:spPr bwMode="auto">
          <a:xfrm>
            <a:off x="338374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14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15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3576606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9" y="1128713"/>
            <a:ext cx="3736502" cy="647678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19" name="Объект 3"/>
          <p:cNvSpPr>
            <a:spLocks noGrp="1"/>
          </p:cNvSpPr>
          <p:nvPr>
            <p:ph sz="quarter" idx="27"/>
          </p:nvPr>
        </p:nvSpPr>
        <p:spPr bwMode="auto">
          <a:xfrm>
            <a:off x="4229573" y="1128391"/>
            <a:ext cx="3736266" cy="4590296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2" name="Объект 3"/>
          <p:cNvSpPr>
            <a:spLocks noGrp="1"/>
          </p:cNvSpPr>
          <p:nvPr>
            <p:ph sz="quarter" idx="28"/>
          </p:nvPr>
        </p:nvSpPr>
        <p:spPr bwMode="auto">
          <a:xfrm>
            <a:off x="8118154" y="1128391"/>
            <a:ext cx="3736266" cy="4590296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24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дуль и 2 горизонтальных контен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Freeform: Shape 28"/>
          <p:cNvSpPr/>
          <p:nvPr userDrawn="1"/>
        </p:nvSpPr>
        <p:spPr bwMode="auto">
          <a:xfrm>
            <a:off x="338374" y="1776391"/>
            <a:ext cx="4713051" cy="395765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Freeform: Shape 96"/>
          <p:cNvSpPr/>
          <p:nvPr userDrawn="1"/>
        </p:nvSpPr>
        <p:spPr bwMode="auto">
          <a:xfrm>
            <a:off x="338374" y="1128391"/>
            <a:ext cx="47130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14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4505338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15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4505338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9" y="1128713"/>
            <a:ext cx="4706754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8" name="Объект 3"/>
          <p:cNvSpPr>
            <a:spLocks noGrp="1"/>
          </p:cNvSpPr>
          <p:nvPr>
            <p:ph sz="quarter" idx="27"/>
          </p:nvPr>
        </p:nvSpPr>
        <p:spPr bwMode="auto">
          <a:xfrm>
            <a:off x="5195888" y="1133852"/>
            <a:ext cx="6661150" cy="222371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" name="Объект 3"/>
          <p:cNvSpPr>
            <a:spLocks noGrp="1"/>
          </p:cNvSpPr>
          <p:nvPr>
            <p:ph sz="quarter" idx="28"/>
          </p:nvPr>
        </p:nvSpPr>
        <p:spPr bwMode="auto">
          <a:xfrm>
            <a:off x="5195888" y="3500437"/>
            <a:ext cx="6661150" cy="223361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24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2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Freeform: Shape 28"/>
          <p:cNvSpPr/>
          <p:nvPr userDrawn="1"/>
        </p:nvSpPr>
        <p:spPr bwMode="auto">
          <a:xfrm>
            <a:off x="338374" y="1776391"/>
            <a:ext cx="5684752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338374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7" name="Freeform: Shape 28"/>
          <p:cNvSpPr/>
          <p:nvPr userDrawn="1"/>
        </p:nvSpPr>
        <p:spPr bwMode="auto">
          <a:xfrm>
            <a:off x="6166247" y="1776391"/>
            <a:ext cx="5684752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96"/>
          <p:cNvSpPr/>
          <p:nvPr userDrawn="1"/>
        </p:nvSpPr>
        <p:spPr bwMode="auto">
          <a:xfrm>
            <a:off x="6166247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0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2796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1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2796" y="2137227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78221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  <p:sp>
        <p:nvSpPr>
          <p:cNvPr id="26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3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2100426"/>
            <a:ext cx="5684752" cy="410034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452426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2169704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461261"/>
            <a:ext cx="5434214" cy="360049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3" name="Freeform: Shape 28"/>
          <p:cNvSpPr/>
          <p:nvPr userDrawn="1"/>
        </p:nvSpPr>
        <p:spPr bwMode="auto">
          <a:xfrm>
            <a:off x="6166247" y="2100426"/>
            <a:ext cx="5684752" cy="410034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6166247" y="1452426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2796" y="2169704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2796" y="2461261"/>
            <a:ext cx="5434214" cy="360049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78221" y="1452748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459905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6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2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1151812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</a:t>
            </a:r>
            <a:br>
              <a:rPr lang="ru-RU"/>
            </a:br>
            <a:r>
              <a:rPr lang="ru-RU"/>
              <a:t>СЛАЙДА</a:t>
            </a:r>
            <a:br>
              <a:rPr lang="ru-RU"/>
            </a:br>
            <a:r>
              <a:rPr lang="ru-RU"/>
              <a:t>в 3 строки</a:t>
            </a:r>
            <a:endParaRPr/>
          </a:p>
        </p:txBody>
      </p:sp>
      <p:sp>
        <p:nvSpPr>
          <p:cNvPr id="28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+дескрипто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Freeform: Shape 28"/>
          <p:cNvSpPr/>
          <p:nvPr userDrawn="1"/>
        </p:nvSpPr>
        <p:spPr bwMode="auto">
          <a:xfrm>
            <a:off x="338374" y="1776391"/>
            <a:ext cx="5684752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96"/>
          <p:cNvSpPr/>
          <p:nvPr userDrawn="1"/>
        </p:nvSpPr>
        <p:spPr bwMode="auto">
          <a:xfrm>
            <a:off x="338374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1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2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7" name="Freeform: Shape 28"/>
          <p:cNvSpPr/>
          <p:nvPr userDrawn="1"/>
        </p:nvSpPr>
        <p:spPr bwMode="auto">
          <a:xfrm>
            <a:off x="6166247" y="1776391"/>
            <a:ext cx="5684752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96"/>
          <p:cNvSpPr/>
          <p:nvPr userDrawn="1"/>
        </p:nvSpPr>
        <p:spPr bwMode="auto">
          <a:xfrm>
            <a:off x="6166247" y="1128391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0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2796" y="1845669"/>
            <a:ext cx="5434214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1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2796" y="2137227"/>
            <a:ext cx="5434214" cy="3419150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78221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40854" y="726981"/>
            <a:ext cx="8599946" cy="30777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>
            <a:lvl1pPr>
              <a:defRPr lang="ru-RU" sz="2000" b="0" i="0">
                <a:solidFill>
                  <a:srgbClr val="7E7E7E"/>
                </a:solidFill>
                <a:latin typeface="+mj-lt"/>
                <a:ea typeface="GPN_DIN Condensed Regular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ДЕСКРИПТОР СЛАЙДА</a:t>
            </a:r>
            <a:endParaRPr/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37146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26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+на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: Shape 28"/>
          <p:cNvSpPr/>
          <p:nvPr userDrawn="1"/>
        </p:nvSpPr>
        <p:spPr bwMode="auto">
          <a:xfrm>
            <a:off x="338374" y="2100426"/>
            <a:ext cx="5684752" cy="410034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452426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2" y="2169704"/>
            <a:ext cx="5577335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2" y="2461261"/>
            <a:ext cx="5577335" cy="360049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3" name="Freeform: Shape 28"/>
          <p:cNvSpPr/>
          <p:nvPr userDrawn="1"/>
        </p:nvSpPr>
        <p:spPr bwMode="auto">
          <a:xfrm>
            <a:off x="6166247" y="2100426"/>
            <a:ext cx="5684752" cy="410034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Freeform: Shape 96"/>
          <p:cNvSpPr/>
          <p:nvPr userDrawn="1"/>
        </p:nvSpPr>
        <p:spPr bwMode="auto">
          <a:xfrm>
            <a:off x="6166247" y="1452426"/>
            <a:ext cx="5684752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5" name="Text Placeholder 5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222796" y="2169704"/>
            <a:ext cx="5574282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6" name="Text Placeholder 7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222796" y="2461261"/>
            <a:ext cx="5574282" cy="3600491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3" name="Текст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78221" y="1452748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647786"/>
            <a:ext cx="8699380" cy="365125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40854" y="1088510"/>
            <a:ext cx="8599946" cy="30777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>
            <a:lvl1pPr>
              <a:defRPr lang="ru-RU" sz="2000" b="0" i="0">
                <a:solidFill>
                  <a:srgbClr val="7E7E7E"/>
                </a:solidFill>
                <a:latin typeface="+mj-lt"/>
                <a:ea typeface="GPN_DIN Condensed Regular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ДЕСКРИПТОР СЛАЙДА</a:t>
            </a:r>
            <a:endParaRPr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45254" y="277595"/>
            <a:ext cx="8695545" cy="30657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0">
                <a:solidFill>
                  <a:srgbClr val="004596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ru-RU"/>
              <a:t>НАДЗАГОЛОВОК СЛАЙДА</a:t>
            </a:r>
            <a:endParaRPr lang="en-US"/>
          </a:p>
        </p:txBody>
      </p:sp>
      <p:sp>
        <p:nvSpPr>
          <p:cNvPr id="22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459905"/>
            <a:ext cx="568483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27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4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кап Монито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73600" y="772928"/>
            <a:ext cx="7838876" cy="5888717"/>
          </a:xfrm>
          <a:prstGeom prst="rect">
            <a:avLst/>
          </a:prstGeom>
        </p:spPr>
      </p:pic>
      <p:sp>
        <p:nvSpPr>
          <p:cNvPr id="17" name="Freeform: Shape 28"/>
          <p:cNvSpPr/>
          <p:nvPr userDrawn="1"/>
        </p:nvSpPr>
        <p:spPr bwMode="auto">
          <a:xfrm>
            <a:off x="338374" y="1776391"/>
            <a:ext cx="471305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96"/>
          <p:cNvSpPr/>
          <p:nvPr userDrawn="1"/>
        </p:nvSpPr>
        <p:spPr bwMode="auto">
          <a:xfrm>
            <a:off x="338374" y="1128391"/>
            <a:ext cx="47130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4470991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79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4656502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4713051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9" name="Рисунок 11"/>
          <p:cNvSpPr>
            <a:spLocks noGrp="1"/>
          </p:cNvSpPr>
          <p:nvPr>
            <p:ph type="pic" sz="quarter" idx="10"/>
          </p:nvPr>
        </p:nvSpPr>
        <p:spPr bwMode="auto">
          <a:xfrm>
            <a:off x="5465763" y="1391920"/>
            <a:ext cx="6135394" cy="344360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22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кап Планш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Рисунок 11"/>
          <p:cNvSpPr>
            <a:spLocks noGrp="1"/>
          </p:cNvSpPr>
          <p:nvPr>
            <p:ph type="pic" sz="quarter" idx="10"/>
          </p:nvPr>
        </p:nvSpPr>
        <p:spPr bwMode="auto">
          <a:xfrm>
            <a:off x="8422577" y="1572322"/>
            <a:ext cx="3155796" cy="418805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530479" y="699828"/>
            <a:ext cx="5092965" cy="6321743"/>
          </a:xfrm>
          <a:prstGeom prst="rect">
            <a:avLst/>
          </a:prstGeom>
        </p:spPr>
      </p:pic>
      <p:sp>
        <p:nvSpPr>
          <p:cNvPr id="15" name="Freeform: Shape 28"/>
          <p:cNvSpPr/>
          <p:nvPr userDrawn="1"/>
        </p:nvSpPr>
        <p:spPr bwMode="auto">
          <a:xfrm>
            <a:off x="338374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Freeform: Shape 96"/>
          <p:cNvSpPr/>
          <p:nvPr userDrawn="1"/>
        </p:nvSpPr>
        <p:spPr bwMode="auto">
          <a:xfrm>
            <a:off x="338374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2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3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7"/>
            <a:ext cx="3576606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4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25" name="Freeform: Shape 28"/>
          <p:cNvSpPr/>
          <p:nvPr userDrawn="1"/>
        </p:nvSpPr>
        <p:spPr bwMode="auto">
          <a:xfrm>
            <a:off x="4222687" y="1776391"/>
            <a:ext cx="3741501" cy="441986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Freeform: Shape 96"/>
          <p:cNvSpPr/>
          <p:nvPr userDrawn="1"/>
        </p:nvSpPr>
        <p:spPr bwMode="auto">
          <a:xfrm>
            <a:off x="4222687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7" name="Text Placeholder 5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279236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9" name="Text Placeholder 7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279236" y="2137227"/>
            <a:ext cx="3576606" cy="4059024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0" name="Текст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222451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3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9083675" y="283135"/>
            <a:ext cx="2862755" cy="6979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кап Телефо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940800" y="852616"/>
            <a:ext cx="3161652" cy="52891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9369662" cy="365125"/>
          </a:xfrm>
        </p:spPr>
        <p:txBody>
          <a:bodyPr wrap="square"/>
          <a:lstStyle>
            <a:lvl1pPr>
              <a:defRPr sz="24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9" name="Рисунок 11"/>
          <p:cNvSpPr>
            <a:spLocks noGrp="1"/>
          </p:cNvSpPr>
          <p:nvPr>
            <p:ph type="pic" sz="quarter" idx="10"/>
          </p:nvPr>
        </p:nvSpPr>
        <p:spPr bwMode="auto">
          <a:xfrm>
            <a:off x="9511784" y="1700582"/>
            <a:ext cx="1977263" cy="34956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Freeform: Shape 28"/>
          <p:cNvSpPr/>
          <p:nvPr userDrawn="1"/>
        </p:nvSpPr>
        <p:spPr bwMode="auto">
          <a:xfrm>
            <a:off x="5199298" y="1776391"/>
            <a:ext cx="3741501" cy="3957659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Freeform: Shape 96"/>
          <p:cNvSpPr/>
          <p:nvPr userDrawn="1"/>
        </p:nvSpPr>
        <p:spPr bwMode="auto">
          <a:xfrm>
            <a:off x="5199298" y="1128391"/>
            <a:ext cx="374150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27" name="Text Placeholder 5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255848" y="1845669"/>
            <a:ext cx="3576606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29" name="Text Placeholder 7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255848" y="2137227"/>
            <a:ext cx="3576606" cy="349259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0" name="Текст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199063" y="1128713"/>
            <a:ext cx="3741557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18" name="Freeform: Shape 28"/>
          <p:cNvSpPr/>
          <p:nvPr userDrawn="1"/>
        </p:nvSpPr>
        <p:spPr bwMode="auto">
          <a:xfrm>
            <a:off x="338374" y="1776391"/>
            <a:ext cx="47130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1" name="Freeform: Shape 96"/>
          <p:cNvSpPr/>
          <p:nvPr userDrawn="1"/>
        </p:nvSpPr>
        <p:spPr bwMode="auto">
          <a:xfrm>
            <a:off x="338374" y="1128391"/>
            <a:ext cx="47130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2" name="Text Placeholder 5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94923" y="1845669"/>
            <a:ext cx="4505338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3" name="Text Placeholder 7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4923" y="2137228"/>
            <a:ext cx="4505338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4" name="Текст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38138" y="1128713"/>
            <a:ext cx="4713121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35" name="Freeform: Shape 28"/>
          <p:cNvSpPr/>
          <p:nvPr userDrawn="1"/>
        </p:nvSpPr>
        <p:spPr bwMode="auto">
          <a:xfrm>
            <a:off x="334963" y="4155010"/>
            <a:ext cx="4713051" cy="1577502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56565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Freeform: Shape 96"/>
          <p:cNvSpPr/>
          <p:nvPr userDrawn="1"/>
        </p:nvSpPr>
        <p:spPr bwMode="auto">
          <a:xfrm>
            <a:off x="334963" y="3507010"/>
            <a:ext cx="4713051" cy="648000"/>
          </a:xfrm>
          <a:custGeom>
            <a:avLst/>
            <a:gdLst>
              <a:gd name="connsiteX0" fmla="*/ 0 w 824589"/>
              <a:gd name="connsiteY0" fmla="*/ 0 h 643327"/>
              <a:gd name="connsiteX1" fmla="*/ 824589 w 824589"/>
              <a:gd name="connsiteY1" fmla="*/ 0 h 643327"/>
              <a:gd name="connsiteX2" fmla="*/ 824589 w 824589"/>
              <a:gd name="connsiteY2" fmla="*/ 643327 h 643327"/>
              <a:gd name="connsiteX3" fmla="*/ 0 w 824589"/>
              <a:gd name="connsiteY3" fmla="*/ 643327 h 64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589" h="643327" extrusionOk="0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0" i="0" u="none" strike="noStrike" cap="none" spc="0">
              <a:ln>
                <a:noFill/>
              </a:ln>
              <a:solidFill>
                <a:srgbClr val="FFFFFF"/>
              </a:solidFill>
              <a:latin typeface="GPN_DIN Condensed Bold"/>
              <a:ea typeface="GPN_DIN Condensed Bold"/>
              <a:cs typeface="+mn-cs"/>
            </a:endParaRPr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91512" y="4224288"/>
            <a:ext cx="4505338" cy="277200"/>
          </a:xfrm>
        </p:spPr>
        <p:txBody>
          <a:bodyPr/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  <a:lvl2pPr>
              <a:defRPr lang="en-US" sz="1200" b="1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2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8" name="Text Placeholder 7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391512" y="4515847"/>
            <a:ext cx="4505338" cy="1113972"/>
          </a:xfrm>
        </p:spPr>
        <p:txBody>
          <a:bodyPr>
            <a:noAutofit/>
          </a:bodyPr>
          <a:lstStyle>
            <a:lvl1pPr>
              <a:defRPr lang="en-US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1pPr>
            <a:lvl2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2pPr>
            <a:lvl3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3pPr>
            <a:lvl4pPr>
              <a:defRPr lang="en-US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4pPr>
            <a:lvl5pPr>
              <a:defRPr lang="ru-RU" sz="10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GPN_DIN Regular"/>
                <a:ea typeface="GPN_DIN Regular"/>
                <a:cs typeface="Arial"/>
              </a:defRPr>
            </a:lvl5pPr>
          </a:lstStyle>
          <a:p>
            <a:pPr lvl="0">
              <a:defRPr/>
            </a:pPr>
            <a:r>
              <a:rPr lang="ru-RU"/>
              <a:t>Нажмите для вставки текста</a:t>
            </a:r>
            <a:endParaRPr lang="en-US"/>
          </a:p>
        </p:txBody>
      </p:sp>
      <p:sp>
        <p:nvSpPr>
          <p:cNvPr id="39" name="Текст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34727" y="3507332"/>
            <a:ext cx="4713121" cy="647700"/>
          </a:xfrm>
          <a:prstGeom prst="rect">
            <a:avLst/>
          </a:prstGeom>
        </p:spPr>
        <p:txBody>
          <a:bodyPr lIns="144000" tIns="144000" rIns="144000" bIns="144000" anchor="ctr"/>
          <a:lstStyle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>
                <a:solidFill>
                  <a:schemeClr val="bg1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>
                <a:solidFill>
                  <a:schemeClr val="bg1"/>
                </a:solidFill>
                <a:latin typeface="GPN_DIN Condensed Bold"/>
                <a:ea typeface="GPN_DIN Condensed Bold"/>
              </a:rPr>
              <a:t>Заголовок модуля</a:t>
            </a:r>
            <a:endParaRPr/>
          </a:p>
        </p:txBody>
      </p:sp>
      <p:sp>
        <p:nvSpPr>
          <p:cNvPr id="2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28" name="Текст 1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0503971" y="242943"/>
            <a:ext cx="1442459" cy="331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404292" y="231503"/>
            <a:ext cx="11577186" cy="17953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spAutoFit/>
          </a:bodyPr>
          <a:lstStyle>
            <a:lvl1pPr algn="l" defTabSz="913526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tabLst>
                <a:tab pos="275353" algn="l"/>
              </a:tabLst>
              <a:defRPr lang="ru-RU" sz="2050" b="1">
                <a:solidFill>
                  <a:schemeClr val="accent4"/>
                </a:solidFill>
                <a:latin typeface="Arial Narrow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/>
              <a:t>Click to edit Master title style</a:t>
            </a:r>
            <a:endParaRPr lang="ru-RU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Введите заголовок</a:t>
            </a:r>
            <a:endParaRPr lang="en-US"/>
          </a:p>
        </p:txBody>
      </p:sp>
      <p:sp>
        <p:nvSpPr>
          <p:cNvPr id="5" name="Rectangle 6"/>
          <p:cNvSpPr/>
          <p:nvPr userDrawn="1"/>
        </p:nvSpPr>
        <p:spPr bwMode="auto">
          <a:xfrm>
            <a:off x="407988" y="294902"/>
            <a:ext cx="726141" cy="6553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6" name="Rectangle 7"/>
          <p:cNvSpPr/>
          <p:nvPr userDrawn="1"/>
        </p:nvSpPr>
        <p:spPr bwMode="auto">
          <a:xfrm>
            <a:off x="407988" y="905400"/>
            <a:ext cx="726141" cy="6553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bg1">
                    <a:lumMod val="50000"/>
                  </a:schemeClr>
                </a:solidFill>
              </a:rPr>
              <a:t>ГАЗПРОМ НЕФТЬ </a:t>
            </a:r>
            <a:fld id="{D58DDE06-DF15-0A4F-A85A-4EB38848D8EB}" type="slidenum">
              <a:rPr lang="ru-RU"/>
              <a:t>‹#›</a:t>
            </a:fld>
            <a:endParaRPr lang="ru-RU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1420" y="286257"/>
            <a:ext cx="8699380" cy="694818"/>
          </a:xfrm>
        </p:spPr>
        <p:txBody>
          <a:bodyPr wrap="square"/>
          <a:lstStyle>
            <a:lvl1pPr>
              <a:defRPr sz="2400" b="0" i="0"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40777" y="6400222"/>
            <a:ext cx="5724524" cy="204787"/>
          </a:xfrm>
          <a:prstGeom prst="rect">
            <a:avLst/>
          </a:prstGeom>
        </p:spPr>
        <p:txBody>
          <a:bodyPr/>
          <a:lstStyle>
            <a:lvl1pPr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Введите заголовок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quarter" idx="11"/>
          </p:nvPr>
        </p:nvSpPr>
        <p:spPr bwMode="auto">
          <a:xfrm>
            <a:off x="420447" y="1268415"/>
            <a:ext cx="5531091" cy="2376485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407988" y="324719"/>
            <a:ext cx="726141" cy="6553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407988" y="825889"/>
            <a:ext cx="726141" cy="6553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35710" y="6296520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</p:sldLayoutIdLst>
  <p:hf hdr="0" ftr="0" dt="0"/>
  <p:txStyles>
    <p:titleStyle>
      <a:lvl1pPr algn="l" defTabSz="914400">
        <a:lnSpc>
          <a:spcPct val="80000"/>
        </a:lnSpc>
        <a:spcBef>
          <a:spcPts val="0"/>
        </a:spcBef>
        <a:buNone/>
        <a:defRPr sz="3200" b="1" cap="all">
          <a:solidFill>
            <a:schemeClr val="tx1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200"/>
        </a:spcBef>
        <a:spcAft>
          <a:spcPts val="0"/>
        </a:spcAft>
        <a:buClr>
          <a:schemeClr val="accent1"/>
        </a:buClr>
        <a:buSzPct val="90000"/>
        <a:buFont typeface="Wingdings"/>
        <a:buNone/>
        <a:defRPr sz="1800" b="1" cap="all">
          <a:solidFill>
            <a:schemeClr val="tx1"/>
          </a:solidFill>
          <a:latin typeface="+mj-lt"/>
          <a:ea typeface="+mn-ea"/>
          <a:cs typeface="+mn-cs"/>
        </a:defRPr>
      </a:lvl1pPr>
      <a:lvl2pPr marL="266700" marR="0" indent="-266700" algn="l" defTabSz="914400">
        <a:lnSpc>
          <a:spcPct val="9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449263" indent="-169862" algn="l" defTabSz="914400">
        <a:lnSpc>
          <a:spcPct val="90000"/>
        </a:lnSpc>
        <a:spcBef>
          <a:spcPts val="300"/>
        </a:spcBef>
        <a:buClr>
          <a:schemeClr val="accent3"/>
        </a:buClr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241419" y="181044"/>
            <a:ext cx="11615619" cy="519708"/>
          </a:xfrm>
        </p:spPr>
        <p:txBody>
          <a:bodyPr/>
          <a:lstStyle/>
          <a:p>
            <a:pPr>
              <a:defRPr/>
            </a:pPr>
            <a:r>
              <a:rPr lang="ru-RU" sz="1800" dirty="0"/>
              <a:t>Название проекта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65104" y="748329"/>
            <a:ext cx="3307485" cy="318924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/>
          <a:p>
            <a:pPr marL="0" marR="0" lvl="1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i="0" u="none" strike="noStrike" cap="none" spc="0" dirty="0">
                <a:ln>
                  <a:noFill/>
                </a:ln>
                <a:solidFill>
                  <a:schemeClr val="accent1"/>
                </a:solidFill>
                <a:latin typeface="+mj-lt"/>
                <a:ea typeface="GPN_DIN Condensed Bold"/>
                <a:cs typeface="Arial"/>
              </a:rPr>
              <a:t>ОБЩИЕ СВЕДЕНИЯ О ПРОЕКТЕ</a:t>
            </a:r>
            <a:endParaRPr lang="ru-RU" i="0" u="none" strike="noStrike" cap="none" spc="0" dirty="0">
              <a:ln>
                <a:noFill/>
              </a:ln>
              <a:solidFill>
                <a:schemeClr val="accent1"/>
              </a:solidFill>
              <a:latin typeface="+mj-lt"/>
              <a:ea typeface="GPN_DIN Condensed"/>
              <a:cs typeface="Arial"/>
            </a:endParaRPr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996257"/>
              </p:ext>
            </p:extLst>
          </p:nvPr>
        </p:nvGraphicFramePr>
        <p:xfrm>
          <a:off x="346486" y="1029435"/>
          <a:ext cx="3638527" cy="54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marL="0" algn="l" defTabSz="914400">
                        <a:defRPr/>
                      </a:pPr>
                      <a:r>
                        <a:rPr lang="ru-RU" sz="1000" b="1" i="0">
                          <a:solidFill>
                            <a:schemeClr val="bg1"/>
                          </a:solidFill>
                          <a:latin typeface="GPN_DIN Bold"/>
                          <a:ea typeface="GPN_DIN Bold"/>
                          <a:cs typeface="+mn-cs"/>
                        </a:rPr>
                        <a:t>Цель проекта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88900" indent="-88900" algn="just">
                        <a:buFont typeface="Arial"/>
                        <a:buChar char="•"/>
                        <a:defRPr/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GPN_DIN Condensed"/>
                          <a:ea typeface="GPN_DIN Condensed"/>
                          <a:cs typeface="Arial"/>
                        </a:rPr>
                        <a:t>Цель проекта</a:t>
                      </a:r>
                      <a:endParaRPr dirty="0"/>
                    </a:p>
                    <a:p>
                      <a:pPr marL="0" indent="0" algn="just">
                        <a:buFont typeface="Arial"/>
                        <a:buNone/>
                        <a:defRPr/>
                      </a:pPr>
                      <a:endParaRPr lang="ru-RU" sz="800" dirty="0">
                        <a:solidFill>
                          <a:srgbClr val="000000"/>
                        </a:solidFill>
                        <a:latin typeface="GPN_DIN Condensed"/>
                        <a:ea typeface="GPN_DIN Condensed"/>
                        <a:cs typeface="Arial"/>
                      </a:endParaRPr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334962" y="1807089"/>
          <a:ext cx="3638528" cy="2284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00">
                <a:tc gridSpan="2">
                  <a:txBody>
                    <a:bodyPr/>
                    <a:lstStyle/>
                    <a:p>
                      <a:pPr marL="0" algn="l" defTabSz="914400">
                        <a:defRPr/>
                      </a:pPr>
                      <a:r>
                        <a:rPr lang="ru-RU" sz="1000" b="1" i="0">
                          <a:solidFill>
                            <a:schemeClr val="bg1"/>
                          </a:solidFill>
                          <a:latin typeface="GPN_DIN Bold"/>
                          <a:ea typeface="GPN_DIN Bold"/>
                          <a:cs typeface="+mn-cs"/>
                        </a:rPr>
                        <a:t>Решаемые бизнес-задачи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00">
                <a:tc gridSpan="2">
                  <a:txBody>
                    <a:bodyPr/>
                    <a:lstStyle/>
                    <a:p>
                      <a:pPr marL="88900" indent="-88900">
                        <a:buFont typeface="Arial"/>
                        <a:buChar char="•"/>
                        <a:defRPr/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GPN_DIN Condensed"/>
                          <a:ea typeface="GPN_DIN Condensed"/>
                          <a:cs typeface="Arial"/>
                        </a:rPr>
                        <a:t>решаемые при помощи ИИ бизнес-вызовы: повышение качества процесса концептуального проектирования объектов подготовки газа на ранних этапах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68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accent5"/>
                          </a:solidFill>
                          <a:latin typeface="GPN_DIN Condensed Bold"/>
                          <a:ea typeface="GPN_DIN Condensed Bold"/>
                        </a:rPr>
                        <a:t>AS IS</a:t>
                      </a:r>
                      <a:endParaRPr lang="ru-RU" sz="1100" b="0">
                        <a:solidFill>
                          <a:schemeClr val="accent5"/>
                        </a:solidFill>
                        <a:latin typeface="GPN_DIN Condensed Bold"/>
                        <a:ea typeface="GPN_DIN Condensed Bold"/>
                      </a:endParaRPr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635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38100" algn="ctr">
                      <a:noFill/>
                    </a:lnT>
                    <a:lnB w="635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>
                          <a:solidFill>
                            <a:schemeClr val="accent1"/>
                          </a:solidFill>
                          <a:latin typeface="GPN_DIN Condensed Bold"/>
                          <a:ea typeface="GPN_DIN Condensed Bold"/>
                        </a:rPr>
                        <a:t>TO BE</a:t>
                      </a:r>
                      <a:endParaRPr lang="ru-RU" sz="1100" b="0">
                        <a:solidFill>
                          <a:schemeClr val="accent1"/>
                        </a:solidFill>
                        <a:latin typeface="GPN_DIN Condensed Bold"/>
                        <a:ea typeface="GPN_DIN Condensed Bold"/>
                      </a:endParaRPr>
                    </a:p>
                  </a:txBody>
                  <a:tcPr marL="36000" marR="36000" marT="36000" marB="36000" anchor="ctr">
                    <a:lnL w="635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635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657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Проработка решений кросс-функциональной командой:</a:t>
                      </a:r>
                      <a:endParaRPr/>
                    </a:p>
                    <a:p>
                      <a:pPr marL="0" marR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ограничение глубины проработки;                                  - все сценарии просчитываются последовательно и детально;                                   - длительность выполнения расчетов всех возможных вариантов ~1 нед… ~5 мес;              </a:t>
                      </a:r>
                      <a:r>
                        <a:rPr lang="ru-RU" sz="800" b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ea typeface="Arial"/>
                          <a:cs typeface="Arial"/>
                        </a:rPr>
                        <a:t>– среднее количество проектов в год составляет до 10 ед., среднее количество выполняемых расчётов техсхем для каждого проекта составляет до 100 ед./год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L="36000" marR="36000" marT="36000" marB="36000">
                    <a:lnL w="12700" algn="ctr">
                      <a:noFill/>
                    </a:lnL>
                    <a:lnR w="635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635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Проработка решений пользователем инструмента (1 чел):                                                  </a:t>
                      </a:r>
                      <a:endParaRPr lang="ru-RU" sz="800" b="0">
                        <a:solidFill>
                          <a:schemeClr val="tx1"/>
                        </a:solidFill>
                        <a:latin typeface="GPN_DIN Condensed"/>
                        <a:ea typeface="Arial"/>
                        <a:cs typeface="Arial"/>
                      </a:endParaRPr>
                    </a:p>
                    <a:p>
                      <a:pPr marL="0" marR="0" lvl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GPN_DIN Condensed"/>
                          <a:ea typeface="Arial"/>
                          <a:cs typeface="Arial"/>
                        </a:rPr>
                        <a:t>- повышение качества выполнения расчетов;</a:t>
                      </a:r>
                    </a:p>
                    <a:p>
                      <a:pPr marL="0" marR="0" lvl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GPN_DIN Condensed"/>
                          <a:ea typeface="Arial"/>
                          <a:cs typeface="Arial"/>
                        </a:rPr>
                        <a:t>- сокращение времени расчётов и поиска лидирующего варианта;                                           - снижение объёма привлекаемых ресурсов для выполнения. </a:t>
                      </a:r>
                      <a:endParaRPr/>
                    </a:p>
                  </a:txBody>
                  <a:tcPr marL="36000" marR="36000" marT="36000" marB="36000">
                    <a:lnL w="635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635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334962" y="3877063"/>
          <a:ext cx="3680664" cy="127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marL="0" algn="l" defTabSz="914400">
                        <a:defRPr/>
                      </a:pPr>
                      <a:r>
                        <a:rPr lang="ru-RU" sz="1000" b="1" i="0">
                          <a:solidFill>
                            <a:schemeClr val="bg1"/>
                          </a:solidFill>
                          <a:latin typeface="GPN_DIN Bold"/>
                          <a:ea typeface="GPN_DIN Bold"/>
                          <a:cs typeface="+mn-cs"/>
                        </a:rPr>
                        <a:t>Целевой образ и результат проекта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30">
                <a:tc>
                  <a:txBody>
                    <a:bodyPr/>
                    <a:lstStyle/>
                    <a:p>
                      <a:pPr marL="635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Цифровой инструмент с интерактивным интерфейсом и функционалом:</a:t>
                      </a:r>
                      <a:endParaRPr/>
                    </a:p>
                    <a:p>
                      <a:pPr marL="88900" marR="0" lvl="0" indent="-8255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автоматическая подготовка максимально эффективных сценариев выбора технологий подготовки и транспортировки продуктов; </a:t>
                      </a:r>
                      <a:endParaRPr/>
                    </a:p>
                    <a:p>
                      <a:pPr marL="88900" marR="0" lvl="0" indent="-8255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управление качеством проектов с учётом множества количественных показателей за счет автоматического учета всех ограничений (не только основных); </a:t>
                      </a:r>
                      <a:endParaRPr/>
                    </a:p>
                    <a:p>
                      <a:pPr marL="88900" marR="0" lvl="0" indent="-8255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defRPr/>
                      </a:pPr>
                      <a:r>
                        <a:rPr lang="ru-RU" sz="8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выявление в процессе поиска оптимума неявных эффектов, которые невозможно выявить при ручном расчёте.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737454"/>
              </p:ext>
            </p:extLst>
          </p:nvPr>
        </p:nvGraphicFramePr>
        <p:xfrm>
          <a:off x="4250782" y="1041284"/>
          <a:ext cx="3420000" cy="592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85">
                <a:tc>
                  <a:txBody>
                    <a:bodyPr/>
                    <a:lstStyle/>
                    <a:p>
                      <a:pPr marL="0" algn="l" defTabSz="914400">
                        <a:defRPr/>
                      </a:pPr>
                      <a:r>
                        <a:rPr lang="ru-RU" sz="1000" b="1" i="0">
                          <a:solidFill>
                            <a:schemeClr val="bg1"/>
                          </a:solidFill>
                          <a:latin typeface="GPN_DIN Bold"/>
                          <a:ea typeface="GPN_DIN Bold"/>
                          <a:cs typeface="+mn-cs"/>
                        </a:rPr>
                        <a:t>Организационный объем проекта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9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defRPr/>
                      </a:pP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ea typeface="GPN_DIN Condensed"/>
                          <a:cs typeface="Arial"/>
                        </a:rPr>
                        <a:t>Организационный объём проекта</a:t>
                      </a:r>
                      <a:endParaRPr sz="8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GPN_DIN Condensed"/>
                        <a:ea typeface="GPN_DIN Condensed"/>
                        <a:cs typeface="Arial"/>
                      </a:endParaRPr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254754"/>
              </p:ext>
            </p:extLst>
          </p:nvPr>
        </p:nvGraphicFramePr>
        <p:xfrm>
          <a:off x="4250783" y="1812769"/>
          <a:ext cx="3420000" cy="103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marL="0" algn="l" defTabSz="914400">
                        <a:defRPr/>
                      </a:pPr>
                      <a:r>
                        <a:rPr lang="ru-RU" sz="1000" b="1" i="0">
                          <a:solidFill>
                            <a:schemeClr val="bg1"/>
                          </a:solidFill>
                          <a:latin typeface="GPN_DIN Bold"/>
                          <a:ea typeface="GPN_DIN Bold"/>
                          <a:cs typeface="+mn-cs"/>
                        </a:rPr>
                        <a:t>Используемые технологии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90488" indent="-90488" algn="l" defTabSz="914400">
                        <a:lnSpc>
                          <a:spcPct val="80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  <a:defRPr/>
                      </a:pP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ea typeface="GPN_DIN Condensed"/>
                          <a:cs typeface="Arial"/>
                        </a:rPr>
                        <a:t>Системный инжиниринг</a:t>
                      </a:r>
                      <a:endParaRPr dirty="0">
                        <a:highlight>
                          <a:srgbClr val="FFFFFF"/>
                        </a:highlight>
                      </a:endParaRPr>
                    </a:p>
                    <a:p>
                      <a:pPr marL="90488" indent="-90488" algn="l" defTabSz="914400">
                        <a:lnSpc>
                          <a:spcPct val="80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  <a:defRPr/>
                      </a:pP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ea typeface="GPN_DIN Condensed"/>
                          <a:cs typeface="Arial"/>
                        </a:rPr>
                        <a:t>Интеллектуальные </a:t>
                      </a:r>
                      <a:r>
                        <a:rPr lang="ru-RU" sz="800" b="0" i="0" u="none" strike="noStrike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ea typeface="GPN_DIN Condensed"/>
                          <a:cs typeface="Arial"/>
                        </a:rPr>
                        <a:t>мультиагентные</a:t>
                      </a: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ea typeface="GPN_DIN Condensed"/>
                          <a:cs typeface="Arial"/>
                        </a:rPr>
                        <a:t> технологии</a:t>
                      </a:r>
                      <a:endParaRPr dirty="0">
                        <a:highlight>
                          <a:srgbClr val="FFFFFF"/>
                        </a:highlight>
                      </a:endParaRPr>
                    </a:p>
                    <a:p>
                      <a:pPr marL="90488" indent="-90488" algn="l" defTabSz="914400">
                        <a:lnSpc>
                          <a:spcPct val="80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  <a:defRPr/>
                      </a:pP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cs typeface="Arial"/>
                        </a:rPr>
                        <a:t>Суррогатное моделирование (прокси-модели на основе ИИ)</a:t>
                      </a:r>
                      <a:endParaRPr dirty="0">
                        <a:highlight>
                          <a:srgbClr val="FFFFFF"/>
                        </a:highlight>
                      </a:endParaRPr>
                    </a:p>
                    <a:p>
                      <a:pPr marL="90488" indent="-90488" algn="l" defTabSz="914400">
                        <a:lnSpc>
                          <a:spcPct val="80000"/>
                        </a:lnSpc>
                        <a:spcAft>
                          <a:spcPts val="300"/>
                        </a:spcAft>
                        <a:buFont typeface="Arial"/>
                        <a:buChar char="•"/>
                        <a:defRPr/>
                      </a:pP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GPN_DIN Condensed"/>
                          <a:cs typeface="Arial"/>
                        </a:rPr>
                        <a:t>Большие я</a:t>
                      </a: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GPN_DIN Condensed"/>
                          <a:cs typeface="Arial"/>
                        </a:rPr>
                        <a:t>зыковые модели для анализа базы данных оборудования</a:t>
                      </a:r>
                    </a:p>
                    <a:p>
                      <a:pPr marL="90487" indent="-90487" algn="l" defTabSz="914400">
                        <a:lnSpc>
                          <a:spcPct val="80000"/>
                        </a:lnSpc>
                        <a:spcAft>
                          <a:spcPts val="299"/>
                        </a:spcAft>
                        <a:buFont typeface="Arial"/>
                        <a:buChar char="•"/>
                        <a:defRPr/>
                      </a:pPr>
                      <a:r>
                        <a:rPr lang="ru-RU" sz="800" b="0" i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GPN_DIN Condensed"/>
                          <a:cs typeface="Arial"/>
                        </a:rPr>
                        <a:t>Продвинутые методы оптимизации</a:t>
                      </a:r>
                      <a:endParaRPr dirty="0">
                        <a:highlight>
                          <a:srgbClr val="FFFFFF"/>
                        </a:highlight>
                      </a:endParaRPr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167989"/>
              </p:ext>
            </p:extLst>
          </p:nvPr>
        </p:nvGraphicFramePr>
        <p:xfrm>
          <a:off x="4249467" y="3026592"/>
          <a:ext cx="3420000" cy="491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marL="0" algn="l" defTabSz="914400">
                        <a:defRPr/>
                      </a:pPr>
                      <a:r>
                        <a:rPr lang="ru-RU" sz="1000" b="1" i="0">
                          <a:solidFill>
                            <a:schemeClr val="bg1"/>
                          </a:solidFill>
                          <a:latin typeface="GPN_DIN Bold"/>
                          <a:ea typeface="GPN_DIN Bold"/>
                          <a:cs typeface="+mn-cs"/>
                        </a:rPr>
                        <a:t>Источники данных</a:t>
                      </a:r>
                      <a:endParaRPr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0000"/>
                        </a:lnSpc>
                        <a:spcAft>
                          <a:spcPts val="300"/>
                        </a:spcAft>
                        <a:buFont typeface="Wingdings"/>
                        <a:buNone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Проектные команды (данные, региональный обзор, константы проектирования)</a:t>
                      </a:r>
                      <a:endParaRPr dirty="0"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172262"/>
              </p:ext>
            </p:extLst>
          </p:nvPr>
        </p:nvGraphicFramePr>
        <p:xfrm>
          <a:off x="4236135" y="3892404"/>
          <a:ext cx="3420000" cy="10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marL="0" algn="l" defTabSz="914400">
                        <a:defRPr/>
                      </a:pPr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GPN_DIN Bold"/>
                          <a:ea typeface="GPN_DIN Bold"/>
                          <a:cs typeface="+mn-cs"/>
                        </a:rPr>
                        <a:t>Вклад в программу</a:t>
                      </a:r>
                      <a:endParaRPr dirty="0"/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14">
                <a:tc>
                  <a:txBody>
                    <a:bodyPr/>
                    <a:lstStyle/>
                    <a:p>
                      <a:pPr marL="88900" marR="0" lvl="0" indent="-88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GPN_DIN Condensed" panose="020B0506020202020204" pitchFamily="34" charset="-52"/>
                          <a:ea typeface="GPN_DIN Condensed" panose="020B0506020202020204" pitchFamily="34" charset="-52"/>
                          <a:cs typeface="+mn-cs"/>
                        </a:rPr>
                        <a:t>Микролит, на базе суррогатной модели </a:t>
                      </a:r>
                      <a:r>
                        <a:rPr kumimoji="0" lang="ru-RU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GPN_DIN Condensed" panose="020B0506020202020204" pitchFamily="34" charset="-52"/>
                          <a:ea typeface="GPN_DIN Condensed" panose="020B0506020202020204" pitchFamily="34" charset="-52"/>
                          <a:cs typeface="+mn-cs"/>
                        </a:rPr>
                        <a:t>AspenTech</a:t>
                      </a:r>
                      <a:r>
                        <a:rPr kumimoji="0" lang="ru-RU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GPN_DIN Condensed" panose="020B0506020202020204" pitchFamily="34" charset="-52"/>
                          <a:ea typeface="GPN_DIN Condensed" panose="020B0506020202020204" pitchFamily="34" charset="-52"/>
                          <a:cs typeface="+mn-cs"/>
                        </a:rPr>
                        <a:t> </a:t>
                      </a:r>
                      <a:r>
                        <a:rPr kumimoji="0" lang="ru-RU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GPN_DIN Condensed" panose="020B0506020202020204" pitchFamily="34" charset="-52"/>
                          <a:ea typeface="GPN_DIN Condensed" panose="020B0506020202020204" pitchFamily="34" charset="-52"/>
                          <a:cs typeface="+mn-cs"/>
                        </a:rPr>
                        <a:t>Hysys</a:t>
                      </a:r>
                      <a:r>
                        <a:rPr kumimoji="0" lang="ru-RU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GPN_DIN Condensed" panose="020B0506020202020204" pitchFamily="34" charset="-52"/>
                          <a:ea typeface="GPN_DIN Condensed" panose="020B0506020202020204" pitchFamily="34" charset="-52"/>
                          <a:cs typeface="+mn-cs"/>
                        </a:rPr>
                        <a:t> по низкотемпературной технологии подготовки газа для прогнозирования результатов расчета.</a:t>
                      </a:r>
                    </a:p>
                    <a:p>
                      <a:pPr marL="88900" marR="0" lvl="0" indent="-88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GPN_DIN Condensed" panose="020B0506020202020204" pitchFamily="34" charset="-52"/>
                          <a:ea typeface="GPN_DIN Condensed" panose="020B0506020202020204" pitchFamily="34" charset="-52"/>
                          <a:cs typeface="+mn-cs"/>
                        </a:rPr>
                        <a:t>Микролит извлечения сущностей характеристик оборудования из текстовых документов</a:t>
                      </a:r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88900" marR="0" lvl="0" indent="-88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ru-RU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GPN_DIN Condensed" panose="020B0506020202020204" pitchFamily="34" charset="-52"/>
                        <a:ea typeface="GPN_DIN Condensed" panose="020B0506020202020204" pitchFamily="34" charset="-52"/>
                        <a:cs typeface="+mn-cs"/>
                      </a:endParaRPr>
                    </a:p>
                  </a:txBody>
                  <a:tcPr marL="36000" marR="36000" marT="36000" marB="36000" anchor="ctr">
                    <a:lnL w="12700" algn="ctr">
                      <a:noFill/>
                    </a:lnL>
                    <a:lnR w="12700" algn="ctr">
                      <a:noFill/>
                    </a:lnR>
                    <a:lnT w="381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8931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gpn_report">
  <a:themeElements>
    <a:clrScheme name="Другая 19">
      <a:dk1>
        <a:srgbClr val="3C3C3C"/>
      </a:dk1>
      <a:lt1>
        <a:srgbClr val="FFFFFF"/>
      </a:lt1>
      <a:dk2>
        <a:srgbClr val="000000"/>
      </a:dk2>
      <a:lt2>
        <a:srgbClr val="706F6F"/>
      </a:lt2>
      <a:accent1>
        <a:srgbClr val="004596"/>
      </a:accent1>
      <a:accent2>
        <a:srgbClr val="2FB3E9"/>
      </a:accent2>
      <a:accent3>
        <a:srgbClr val="0097D8"/>
      </a:accent3>
      <a:accent4>
        <a:srgbClr val="0070BA"/>
      </a:accent4>
      <a:accent5>
        <a:srgbClr val="E75807"/>
      </a:accent5>
      <a:accent6>
        <a:srgbClr val="23D1CF"/>
      </a:accent6>
      <a:hlink>
        <a:srgbClr val="FFFFFF"/>
      </a:hlink>
      <a:folHlink>
        <a:srgbClr val="706F6F"/>
      </a:folHlink>
    </a:clrScheme>
    <a:fontScheme name="Другая 1">
      <a:majorFont>
        <a:latin typeface="GPN_DIN Condensed Bold"/>
        <a:ea typeface="Arial"/>
        <a:cs typeface="Arial"/>
      </a:majorFont>
      <a:minorFont>
        <a:latin typeface="GPN_DIN Condensed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>
          <a:solidFill>
            <a:schemeClr val="accent2"/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Words>255</Words>
  <Application>Microsoft Macintosh PowerPoint</Application>
  <DocSecurity>0</DocSecurity>
  <PresentationFormat>Широкоэкранный</PresentationFormat>
  <Paragraphs>31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11" baseType="lpstr">
      <vt:lpstr>GPN_DIN Condensed</vt:lpstr>
      <vt:lpstr>Arial</vt:lpstr>
      <vt:lpstr>GPN_DIN Regular</vt:lpstr>
      <vt:lpstr>GPN_DIN Condensed Regular</vt:lpstr>
      <vt:lpstr>Calibri</vt:lpstr>
      <vt:lpstr>GPN_DIN Bold</vt:lpstr>
      <vt:lpstr>Arial Narrow</vt:lpstr>
      <vt:lpstr>GPN_DIN Condensed Bold</vt:lpstr>
      <vt:lpstr>Wingdings</vt:lpstr>
      <vt:lpstr>1_gpn_report</vt:lpstr>
      <vt:lpstr>Название проекта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одностраничника</dc:title>
  <dc:subject/>
  <dc:creator>Change Name</dc:creator>
  <cp:keywords/>
  <dc:description/>
  <cp:lastModifiedBy>Сотников Кирилл Денисович</cp:lastModifiedBy>
  <cp:revision>120</cp:revision>
  <dcterms:created xsi:type="dcterms:W3CDTF">2024-10-25T12:17:53Z</dcterms:created>
  <dcterms:modified xsi:type="dcterms:W3CDTF">2025-12-05T15:26:48Z</dcterms:modified>
  <cp:category/>
  <dc:identifier/>
  <cp:contentStatus/>
  <dc:language/>
  <cp:version/>
</cp:coreProperties>
</file>